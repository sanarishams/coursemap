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15"/>
  </p:notesMasterIdLst>
  <p:sldIdLst>
    <p:sldId id="399" r:id="rId3"/>
    <p:sldId id="400" r:id="rId4"/>
    <p:sldId id="401" r:id="rId5"/>
    <p:sldId id="403" r:id="rId6"/>
    <p:sldId id="404" r:id="rId7"/>
    <p:sldId id="405" r:id="rId8"/>
    <p:sldId id="406" r:id="rId9"/>
    <p:sldId id="407" r:id="rId10"/>
    <p:sldId id="408" r:id="rId11"/>
    <p:sldId id="409" r:id="rId12"/>
    <p:sldId id="410" r:id="rId13"/>
    <p:sldId id="41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 Dutta" initials="MD" lastIdx="1" clrIdx="0">
    <p:extLst>
      <p:ext uri="{19B8F6BF-5375-455C-9EA6-DF929625EA0E}">
        <p15:presenceInfo xmlns:p15="http://schemas.microsoft.com/office/powerpoint/2012/main" userId="b2a02bd806a326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779"/>
    <a:srgbClr val="2C03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8" autoAdjust="0"/>
    <p:restoredTop sz="94660"/>
  </p:normalViewPr>
  <p:slideViewPr>
    <p:cSldViewPr snapToGrid="0">
      <p:cViewPr varScale="1">
        <p:scale>
          <a:sx n="68" d="100"/>
          <a:sy n="68" d="100"/>
        </p:scale>
        <p:origin x="57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70AC6-4411-4DD1-86D9-7A8854C25663}" type="datetimeFigureOut">
              <a:rPr lang="en-IN" smtClean="0"/>
              <a:t>13-07-2024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AA98B-BCE1-4F73-A511-223A3E5BB9D3}" type="slidenum">
              <a:rPr lang="en-IN" smtClean="0"/>
              <a:t>‹#›</a:t>
            </a:fld>
            <a:endParaRPr lang="en-IN"/>
          </a:p>
        </p:txBody>
      </p:sp>
    </p:spTree>
    <p:extLst>
      <p:ext uri="{BB962C8B-B14F-4D97-AF65-F5344CB8AC3E}">
        <p14:creationId xmlns:p14="http://schemas.microsoft.com/office/powerpoint/2010/main" val="112840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993E8C-417D-409F-980C-1BF59389D040}"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lvl1pPr algn="just">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US"/>
              <a:t>Jain (Deemed-to-be University), Department of BCA</a:t>
            </a:r>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US"/>
              <a:t>Jain (Deemed-to-be University), Department of BCA</a:t>
            </a:r>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US"/>
              <a:t>Jain (Deemed-to-be University), Department of BCA</a:t>
            </a:r>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993E8C-417D-409F-980C-1BF59389D04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US"/>
              <a:t>Jain (Deemed-to-be University), Department of BCA</a:t>
            </a:r>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993E8C-417D-409F-980C-1BF59389D040}"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993E8C-417D-409F-980C-1BF59389D040}"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322299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44274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146589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989154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Jain (Deemed-to-be University), Department of BCA</a:t>
            </a:r>
          </a:p>
        </p:txBody>
      </p:sp>
      <p:sp>
        <p:nvSpPr>
          <p:cNvPr id="9" name="Slide Number Placeholder 8"/>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407233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Jain (Deemed-to-be University), Department of BCA</a:t>
            </a:r>
          </a:p>
        </p:txBody>
      </p:sp>
      <p:sp>
        <p:nvSpPr>
          <p:cNvPr id="5" name="Slide Number Placeholder 4"/>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4186524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Jain (Deemed-to-be University), Department of BCA</a:t>
            </a:r>
          </a:p>
        </p:txBody>
      </p:sp>
      <p:sp>
        <p:nvSpPr>
          <p:cNvPr id="4" name="Slide Number Placeholder 3"/>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15719188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237943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Jain (Deemed-to-be University), Department of BCA</a:t>
            </a:r>
          </a:p>
        </p:txBody>
      </p:sp>
      <p:sp>
        <p:nvSpPr>
          <p:cNvPr id="7" name="Slide Number Placeholder 6"/>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1147977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22934569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Jain (Deemed-to-be University), Department of BCA</a:t>
            </a:r>
          </a:p>
        </p:txBody>
      </p:sp>
      <p:sp>
        <p:nvSpPr>
          <p:cNvPr id="6" name="Slide Number Placeholder 5"/>
          <p:cNvSpPr>
            <a:spLocks noGrp="1"/>
          </p:cNvSpPr>
          <p:nvPr>
            <p:ph type="sldNum" sz="quarter" idx="12"/>
          </p:nvPr>
        </p:nvSpPr>
        <p:spPr/>
        <p:txBody>
          <a:bodyPr/>
          <a:lstStyle/>
          <a:p>
            <a:fld id="{97651E63-B61D-4219-A760-CAA95A64B0CE}" type="slidenum">
              <a:rPr lang="en-US" smtClean="0"/>
              <a:t>‹#›</a:t>
            </a:fld>
            <a:endParaRPr lang="en-US"/>
          </a:p>
        </p:txBody>
      </p:sp>
    </p:spTree>
    <p:extLst>
      <p:ext uri="{BB962C8B-B14F-4D97-AF65-F5344CB8AC3E}">
        <p14:creationId xmlns:p14="http://schemas.microsoft.com/office/powerpoint/2010/main" val="365605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Jain (Deemed-to-be University), Department of BCA</a:t>
            </a:r>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993E8C-417D-409F-980C-1BF59389D04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Jain (Deemed-to-be University), Department of BCA</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651E63-B61D-4219-A760-CAA95A64B0CE}" type="slidenum">
              <a:rPr lang="en-US" smtClean="0"/>
              <a:t>‹#›</a:t>
            </a:fld>
            <a:endParaRPr lang="en-US"/>
          </a:p>
        </p:txBody>
      </p:sp>
    </p:spTree>
    <p:extLst>
      <p:ext uri="{BB962C8B-B14F-4D97-AF65-F5344CB8AC3E}">
        <p14:creationId xmlns:p14="http://schemas.microsoft.com/office/powerpoint/2010/main" val="87877348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807E-52CF-46B9-A50F-DD0A9412D47C}"/>
              </a:ext>
            </a:extLst>
          </p:cNvPr>
          <p:cNvSpPr>
            <a:spLocks noGrp="1"/>
          </p:cNvSpPr>
          <p:nvPr>
            <p:ph type="ctrTitle"/>
          </p:nvPr>
        </p:nvSpPr>
        <p:spPr>
          <a:xfrm>
            <a:off x="1524000" y="1461155"/>
            <a:ext cx="9144000" cy="900587"/>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School of Computer Science &amp; IT</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Programme: BCA</a:t>
            </a:r>
          </a:p>
        </p:txBody>
      </p:sp>
      <p:sp>
        <p:nvSpPr>
          <p:cNvPr id="3" name="Subtitle 2">
            <a:extLst>
              <a:ext uri="{FF2B5EF4-FFF2-40B4-BE49-F238E27FC236}">
                <a16:creationId xmlns:a16="http://schemas.microsoft.com/office/drawing/2014/main" id="{B6E9A171-80E0-4AD4-9463-4D7207E71F44}"/>
              </a:ext>
            </a:extLst>
          </p:cNvPr>
          <p:cNvSpPr>
            <a:spLocks noGrp="1"/>
          </p:cNvSpPr>
          <p:nvPr>
            <p:ph type="subTitle" idx="1"/>
          </p:nvPr>
        </p:nvSpPr>
        <p:spPr>
          <a:xfrm>
            <a:off x="2071395" y="3244741"/>
            <a:ext cx="9349241" cy="2008067"/>
          </a:xfrm>
        </p:spPr>
        <p:txBody>
          <a:bodyPr>
            <a:normAutofit/>
          </a:bodyPr>
          <a:lstStyle/>
          <a:p>
            <a:pPr algn="ctr"/>
            <a:r>
              <a:rPr lang="en-US"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RESEARCH METHODOLOGY(22</a:t>
            </a:r>
            <a:r>
              <a:rPr lang="en-IN"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BCA5RM01)</a:t>
            </a:r>
            <a:endParaRPr lang="en-US" sz="2800" b="1" dirty="0">
              <a:solidFill>
                <a:srgbClr val="C00000"/>
              </a:solidFill>
              <a:latin typeface="Times New Roman" panose="02020603050405020304" pitchFamily="18" charset="0"/>
              <a:cs typeface="Times New Roman" panose="02020603050405020304" pitchFamily="18" charset="0"/>
            </a:endParaRPr>
          </a:p>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MODULE 1:</a:t>
            </a:r>
            <a:r>
              <a:rPr lang="en-US" sz="2800" b="1" dirty="0">
                <a:solidFill>
                  <a:schemeClr val="accent1">
                    <a:lumMod val="75000"/>
                  </a:schemeClr>
                </a:solidFill>
                <a:latin typeface="Times New Roman" panose="02020603050405020304" pitchFamily="18" charset="0"/>
                <a:cs typeface="Times New Roman" panose="02020603050405020304" pitchFamily="18" charset="0"/>
              </a:rPr>
              <a:t> Introduction to Research</a:t>
            </a:r>
            <a:endParaRPr lang="en-US" sz="2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dirty="0"/>
              <a:t>Jain (Deemed-to-be University), Department of BCA</a:t>
            </a:r>
            <a:endParaRPr lang="en-IN" dirty="0"/>
          </a:p>
        </p:txBody>
      </p:sp>
      <p:sp>
        <p:nvSpPr>
          <p:cNvPr id="7" name="Slide Number Placeholder 6"/>
          <p:cNvSpPr>
            <a:spLocks noGrp="1"/>
          </p:cNvSpPr>
          <p:nvPr>
            <p:ph type="sldNum" sz="quarter" idx="12"/>
          </p:nvPr>
        </p:nvSpPr>
        <p:spPr/>
        <p:txBody>
          <a:bodyPr/>
          <a:lstStyle/>
          <a:p>
            <a:fld id="{6D993E8C-417D-409F-980C-1BF59389D040}" type="slidenum">
              <a:rPr lang="en-IN" smtClean="0"/>
              <a:t>1</a:t>
            </a:fld>
            <a:endParaRPr lang="en-IN" dirty="0"/>
          </a:p>
        </p:txBody>
      </p:sp>
      <p:pic>
        <p:nvPicPr>
          <p:cNvPr id="1026" name="Picture 2" descr="C:\Users\Ameen\Downloads\WhatsApp Image 2020-08-12 at 8.54.12 AM.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777" y="0"/>
            <a:ext cx="3319738" cy="63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992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682"/>
            <a:ext cx="10515600" cy="964504"/>
          </a:xfrm>
        </p:spPr>
        <p:txBody>
          <a:bodyPr/>
          <a:lstStyle/>
          <a:p>
            <a:r>
              <a:rPr lang="en-US" dirty="0">
                <a:latin typeface="Arial Black" pitchFamily="34" charset="0"/>
              </a:rPr>
              <a:t>Session -5</a:t>
            </a:r>
          </a:p>
        </p:txBody>
      </p:sp>
      <p:sp>
        <p:nvSpPr>
          <p:cNvPr id="3" name="Content Placeholder 2"/>
          <p:cNvSpPr>
            <a:spLocks noGrp="1"/>
          </p:cNvSpPr>
          <p:nvPr>
            <p:ph idx="1"/>
          </p:nvPr>
        </p:nvSpPr>
        <p:spPr>
          <a:xfrm>
            <a:off x="2033752" y="2170583"/>
            <a:ext cx="9320048" cy="2006082"/>
          </a:xfrm>
        </p:spPr>
        <p:txBody>
          <a:bodyPr>
            <a:normAutofit/>
          </a:bodyPr>
          <a:lstStyle/>
          <a:p>
            <a:pPr>
              <a:buFont typeface="Wingdings" pitchFamily="2" charset="2"/>
              <a:buChar char="Ø"/>
            </a:pPr>
            <a:r>
              <a:rPr lang="en-IN" sz="2800" b="1" dirty="0">
                <a:latin typeface="Arial" panose="020B0604020202020204" pitchFamily="34" charset="0"/>
                <a:ea typeface="Calibri" panose="020F0502020204030204" pitchFamily="34" charset="0"/>
                <a:cs typeface="Arial" panose="020B0604020202020204" pitchFamily="34" charset="0"/>
              </a:rPr>
              <a:t>Necessity of Defining the problem</a:t>
            </a:r>
          </a:p>
          <a:p>
            <a:pPr>
              <a:buFont typeface="Wingdings" pitchFamily="2" charset="2"/>
              <a:buChar char="Ø"/>
            </a:pPr>
            <a:r>
              <a:rPr lang="en-IN" sz="2800" b="1" dirty="0">
                <a:latin typeface="Arial" panose="020B0604020202020204" pitchFamily="34" charset="0"/>
                <a:ea typeface="Calibri" panose="020F0502020204030204" pitchFamily="34" charset="0"/>
                <a:cs typeface="Arial" panose="020B0604020202020204" pitchFamily="34" charset="0"/>
              </a:rPr>
              <a:t>Technique involved in defining the problem</a:t>
            </a:r>
            <a:endParaRPr lang="en-IN" sz="2800" b="1" dirty="0">
              <a:effectLst/>
              <a:latin typeface="Arial" panose="020B0604020202020204" pitchFamily="34" charset="0"/>
              <a:ea typeface="Calibri" panose="020F0502020204030204" pitchFamily="34" charset="0"/>
              <a:cs typeface="Arial" panose="020B0604020202020204" pitchFamily="34" charset="0"/>
            </a:endParaRPr>
          </a:p>
          <a:p>
            <a:pPr>
              <a:buFont typeface="Wingdings" pitchFamily="2" charset="2"/>
              <a:buChar char="Ø"/>
            </a:pPr>
            <a:endParaRPr lang="en-US" dirty="0"/>
          </a:p>
          <a:p>
            <a:pPr>
              <a:buFont typeface="Wingdings" pitchFamily="2" charset="2"/>
              <a:buChar char="Ø"/>
            </a:pPr>
            <a:endParaRPr lang="en-US" dirty="0"/>
          </a:p>
          <a:p>
            <a:pPr>
              <a:buFont typeface="Wingdings" pitchFamily="2" charset="2"/>
              <a:buChar char="Ø"/>
            </a:pPr>
            <a:endParaRPr lang="en-US" dirty="0"/>
          </a:p>
        </p:txBody>
      </p:sp>
      <p:sp>
        <p:nvSpPr>
          <p:cNvPr id="5" name="Footer Placeholder 4"/>
          <p:cNvSpPr>
            <a:spLocks noGrp="1"/>
          </p:cNvSpPr>
          <p:nvPr>
            <p:ph type="ftr" sz="quarter" idx="11"/>
          </p:nvPr>
        </p:nvSpPr>
        <p:spPr/>
        <p:txBody>
          <a:bodyPr/>
          <a:lstStyle/>
          <a:p>
            <a:r>
              <a:rPr lang="en-US"/>
              <a:t>Jain (Deemed-to-be University), Department of BCA</a:t>
            </a:r>
            <a:endParaRPr lang="en-IN"/>
          </a:p>
        </p:txBody>
      </p:sp>
      <p:sp>
        <p:nvSpPr>
          <p:cNvPr id="6" name="Slide Number Placeholder 5"/>
          <p:cNvSpPr>
            <a:spLocks noGrp="1"/>
          </p:cNvSpPr>
          <p:nvPr>
            <p:ph type="sldNum" sz="quarter" idx="12"/>
          </p:nvPr>
        </p:nvSpPr>
        <p:spPr/>
        <p:txBody>
          <a:bodyPr/>
          <a:lstStyle/>
          <a:p>
            <a:fld id="{6D993E8C-417D-409F-980C-1BF59389D040}" type="slidenum">
              <a:rPr lang="en-IN" smtClean="0"/>
              <a:t>2</a:t>
            </a:fld>
            <a:endParaRPr lang="en-IN"/>
          </a:p>
        </p:txBody>
      </p:sp>
    </p:spTree>
    <p:extLst>
      <p:ext uri="{BB962C8B-B14F-4D97-AF65-F5344CB8AC3E}">
        <p14:creationId xmlns:p14="http://schemas.microsoft.com/office/powerpoint/2010/main" val="91922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2E03-186D-4BDB-A748-B53CC95289CC}"/>
              </a:ext>
            </a:extLst>
          </p:cNvPr>
          <p:cNvSpPr>
            <a:spLocks noGrp="1"/>
          </p:cNvSpPr>
          <p:nvPr>
            <p:ph type="title"/>
          </p:nvPr>
        </p:nvSpPr>
        <p:spPr/>
        <p:txBody>
          <a:bodyPr/>
          <a:lstStyle/>
          <a:p>
            <a:r>
              <a:rPr lang="en-IN" b="1" dirty="0">
                <a:latin typeface="Arial" panose="020B0604020202020204" pitchFamily="34" charset="0"/>
                <a:ea typeface="Calibri" panose="020F0502020204030204" pitchFamily="34" charset="0"/>
                <a:cs typeface="Arial" panose="020B0604020202020204" pitchFamily="34" charset="0"/>
              </a:rPr>
              <a:t>Necessity of Defining the problem</a:t>
            </a:r>
            <a:br>
              <a:rPr lang="en-IN" b="1" dirty="0">
                <a:latin typeface="Arial" panose="020B0604020202020204" pitchFamily="34" charset="0"/>
                <a:ea typeface="Calibri" panose="020F0502020204030204" pitchFamily="34" charset="0"/>
                <a:cs typeface="Arial" panose="020B0604020202020204" pitchFamily="34" charset="0"/>
              </a:rPr>
            </a:br>
            <a:endParaRPr lang="en-IN" dirty="0"/>
          </a:p>
        </p:txBody>
      </p:sp>
      <p:sp>
        <p:nvSpPr>
          <p:cNvPr id="4" name="Footer Placeholder 3">
            <a:extLst>
              <a:ext uri="{FF2B5EF4-FFF2-40B4-BE49-F238E27FC236}">
                <a16:creationId xmlns:a16="http://schemas.microsoft.com/office/drawing/2014/main" id="{0114B76F-D123-434E-B957-56F27A0B13E0}"/>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B67038CC-DBED-4615-94C6-154EE8FF455A}"/>
              </a:ext>
            </a:extLst>
          </p:cNvPr>
          <p:cNvSpPr>
            <a:spLocks noGrp="1"/>
          </p:cNvSpPr>
          <p:nvPr>
            <p:ph type="sldNum" sz="quarter" idx="12"/>
          </p:nvPr>
        </p:nvSpPr>
        <p:spPr/>
        <p:txBody>
          <a:bodyPr/>
          <a:lstStyle/>
          <a:p>
            <a:fld id="{6D993E8C-417D-409F-980C-1BF59389D040}" type="slidenum">
              <a:rPr lang="en-IN" smtClean="0"/>
              <a:t>3</a:t>
            </a:fld>
            <a:endParaRPr lang="en-IN"/>
          </a:p>
        </p:txBody>
      </p:sp>
      <p:pic>
        <p:nvPicPr>
          <p:cNvPr id="1026" name="Picture 2" descr="Researchproblem | PPT">
            <a:extLst>
              <a:ext uri="{FF2B5EF4-FFF2-40B4-BE49-F238E27FC236}">
                <a16:creationId xmlns:a16="http://schemas.microsoft.com/office/drawing/2014/main" id="{CCBE969C-12C5-44AC-B4A8-417F4C53BF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1812" y="1303987"/>
            <a:ext cx="11660188" cy="5196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4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C36E-DDF9-467E-9ECD-6B3413E6F1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194418-5083-4B2D-A4F1-CF6BF1AC90D4}"/>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18BE45F2-36D8-4095-920C-0F309C707833}"/>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82AF2AEC-2C65-46C2-A356-53268B2C5A56}"/>
              </a:ext>
            </a:extLst>
          </p:cNvPr>
          <p:cNvSpPr>
            <a:spLocks noGrp="1"/>
          </p:cNvSpPr>
          <p:nvPr>
            <p:ph type="sldNum" sz="quarter" idx="12"/>
          </p:nvPr>
        </p:nvSpPr>
        <p:spPr/>
        <p:txBody>
          <a:bodyPr/>
          <a:lstStyle/>
          <a:p>
            <a:fld id="{6D993E8C-417D-409F-980C-1BF59389D040}" type="slidenum">
              <a:rPr lang="en-IN" smtClean="0"/>
              <a:t>4</a:t>
            </a:fld>
            <a:endParaRPr lang="en-IN"/>
          </a:p>
        </p:txBody>
      </p:sp>
      <p:pic>
        <p:nvPicPr>
          <p:cNvPr id="6" name="Picture 4" descr="Defining the research problem - ppt download">
            <a:extLst>
              <a:ext uri="{FF2B5EF4-FFF2-40B4-BE49-F238E27FC236}">
                <a16:creationId xmlns:a16="http://schemas.microsoft.com/office/drawing/2014/main" id="{5A383EC8-E98E-406D-B818-26F2B44A7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9" y="102940"/>
            <a:ext cx="10209210" cy="6755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794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F2BE086-77FB-4AA0-9723-C8B9EC0B8BA1}"/>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C1919C6E-8407-4789-9D53-DF319CD27DF8}"/>
              </a:ext>
            </a:extLst>
          </p:cNvPr>
          <p:cNvSpPr>
            <a:spLocks noGrp="1"/>
          </p:cNvSpPr>
          <p:nvPr>
            <p:ph type="sldNum" sz="quarter" idx="12"/>
          </p:nvPr>
        </p:nvSpPr>
        <p:spPr/>
        <p:txBody>
          <a:bodyPr/>
          <a:lstStyle/>
          <a:p>
            <a:fld id="{6D993E8C-417D-409F-980C-1BF59389D040}" type="slidenum">
              <a:rPr lang="en-IN" smtClean="0"/>
              <a:t>5</a:t>
            </a:fld>
            <a:endParaRPr lang="en-IN"/>
          </a:p>
        </p:txBody>
      </p:sp>
      <p:sp>
        <p:nvSpPr>
          <p:cNvPr id="7" name="Title 1">
            <a:extLst>
              <a:ext uri="{FF2B5EF4-FFF2-40B4-BE49-F238E27FC236}">
                <a16:creationId xmlns:a16="http://schemas.microsoft.com/office/drawing/2014/main" id="{9BD2FEA9-C9C3-4AA3-BF73-17444E66009C}"/>
              </a:ext>
            </a:extLst>
          </p:cNvPr>
          <p:cNvSpPr>
            <a:spLocks noGrp="1"/>
          </p:cNvSpPr>
          <p:nvPr>
            <p:ph idx="1"/>
          </p:nvPr>
        </p:nvSpPr>
        <p:spPr>
          <a:xfrm>
            <a:off x="1562100" y="357188"/>
            <a:ext cx="9942513" cy="5554662"/>
          </a:xfrm>
        </p:spPr>
        <p:txBody>
          <a:bodyPr/>
          <a:lstStyle/>
          <a:p>
            <a:r>
              <a:rPr lang="en-IN" b="1" dirty="0"/>
              <a:t>Narrowing Down Frameworks </a:t>
            </a:r>
            <a:endParaRPr lang="en-IN" dirty="0"/>
          </a:p>
          <a:p>
            <a:r>
              <a:rPr lang="en-GB" dirty="0"/>
              <a:t>Several frameworks and approaches can help to narrow down a research problem. </a:t>
            </a:r>
          </a:p>
          <a:p>
            <a:r>
              <a:rPr lang="en-IN" dirty="0"/>
              <a:t>. PICO </a:t>
            </a:r>
          </a:p>
          <a:p>
            <a:r>
              <a:rPr lang="en-GB" dirty="0"/>
              <a:t>The PICO framework is often used in healthcare and medical research to formulate focused research questions. It involves identifying the specific population or patient group, the intervention or treatment being considered, the comparison group or alternative intervention, and the desired outcome. </a:t>
            </a:r>
          </a:p>
          <a:p>
            <a:endParaRPr lang="en-IN" dirty="0"/>
          </a:p>
        </p:txBody>
      </p:sp>
      <p:pic>
        <p:nvPicPr>
          <p:cNvPr id="8" name="Picture 7">
            <a:extLst>
              <a:ext uri="{FF2B5EF4-FFF2-40B4-BE49-F238E27FC236}">
                <a16:creationId xmlns:a16="http://schemas.microsoft.com/office/drawing/2014/main" id="{EEC50EA2-A2ED-490F-90BF-883B681EDE61}"/>
              </a:ext>
            </a:extLst>
          </p:cNvPr>
          <p:cNvPicPr>
            <a:picLocks noChangeAspect="1"/>
          </p:cNvPicPr>
          <p:nvPr/>
        </p:nvPicPr>
        <p:blipFill>
          <a:blip r:embed="rId2"/>
          <a:stretch>
            <a:fillRect/>
          </a:stretch>
        </p:blipFill>
        <p:spPr>
          <a:xfrm>
            <a:off x="1562100" y="2543848"/>
            <a:ext cx="10479845" cy="4314151"/>
          </a:xfrm>
          <a:prstGeom prst="rect">
            <a:avLst/>
          </a:prstGeom>
        </p:spPr>
      </p:pic>
    </p:spTree>
    <p:extLst>
      <p:ext uri="{BB962C8B-B14F-4D97-AF65-F5344CB8AC3E}">
        <p14:creationId xmlns:p14="http://schemas.microsoft.com/office/powerpoint/2010/main" val="2279180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A81FF6A-8411-4BFD-ADD3-D63E3F13C0FC}"/>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8668FE61-1E0A-4529-862C-863C8EE4E987}"/>
              </a:ext>
            </a:extLst>
          </p:cNvPr>
          <p:cNvSpPr>
            <a:spLocks noGrp="1"/>
          </p:cNvSpPr>
          <p:nvPr>
            <p:ph type="sldNum" sz="quarter" idx="12"/>
          </p:nvPr>
        </p:nvSpPr>
        <p:spPr/>
        <p:txBody>
          <a:bodyPr/>
          <a:lstStyle/>
          <a:p>
            <a:fld id="{6D993E8C-417D-409F-980C-1BF59389D040}" type="slidenum">
              <a:rPr lang="en-IN" smtClean="0"/>
              <a:t>6</a:t>
            </a:fld>
            <a:endParaRPr lang="en-IN"/>
          </a:p>
        </p:txBody>
      </p:sp>
      <p:sp>
        <p:nvSpPr>
          <p:cNvPr id="6" name="Title 1">
            <a:extLst>
              <a:ext uri="{FF2B5EF4-FFF2-40B4-BE49-F238E27FC236}">
                <a16:creationId xmlns:a16="http://schemas.microsoft.com/office/drawing/2014/main" id="{65FC12B9-414E-46D1-A184-C21E95A780E5}"/>
              </a:ext>
            </a:extLst>
          </p:cNvPr>
          <p:cNvSpPr>
            <a:spLocks noGrp="1"/>
          </p:cNvSpPr>
          <p:nvPr>
            <p:ph idx="1"/>
          </p:nvPr>
        </p:nvSpPr>
        <p:spPr>
          <a:xfrm>
            <a:off x="1674813" y="239713"/>
            <a:ext cx="9829800" cy="5672137"/>
          </a:xfrm>
        </p:spPr>
        <p:txBody>
          <a:bodyPr>
            <a:normAutofit fontScale="92500" lnSpcReduction="10000"/>
          </a:bodyPr>
          <a:lstStyle/>
          <a:p>
            <a:r>
              <a:rPr lang="en-IN" dirty="0"/>
              <a:t>FINER </a:t>
            </a:r>
          </a:p>
          <a:p>
            <a:r>
              <a:rPr lang="en-GB" dirty="0"/>
              <a:t>The FINER technique is a tool that researchers should consider when evaluating and refining their research questions: </a:t>
            </a:r>
          </a:p>
          <a:p>
            <a:r>
              <a:rPr lang="en-GB" dirty="0"/>
              <a:t>• </a:t>
            </a:r>
            <a:r>
              <a:rPr lang="en-GB" b="1" dirty="0"/>
              <a:t>Feasible</a:t>
            </a:r>
            <a:r>
              <a:rPr lang="en-GB" dirty="0"/>
              <a:t>: A research question should be feasible, considering available resources, time constraints, and access to data or participants </a:t>
            </a:r>
          </a:p>
          <a:p>
            <a:r>
              <a:rPr lang="en-GB" dirty="0"/>
              <a:t>• </a:t>
            </a:r>
            <a:r>
              <a:rPr lang="en-GB" b="1" dirty="0"/>
              <a:t>Interesting</a:t>
            </a:r>
            <a:r>
              <a:rPr lang="en-GB" dirty="0"/>
              <a:t>: An interesting research question captures the researcher’s and the wider academic community’s attention and curiosity </a:t>
            </a:r>
          </a:p>
          <a:p>
            <a:r>
              <a:rPr lang="en-GB" dirty="0"/>
              <a:t>• </a:t>
            </a:r>
            <a:r>
              <a:rPr lang="en-GB" b="1" dirty="0"/>
              <a:t>Novel</a:t>
            </a:r>
            <a:r>
              <a:rPr lang="en-GB" dirty="0"/>
              <a:t>: A research question should exhibit novelty by exploring new perspectives, approaches, or methodologies </a:t>
            </a:r>
            <a:endParaRPr lang="en-IN" dirty="0"/>
          </a:p>
          <a:p>
            <a:r>
              <a:rPr lang="en-GB" dirty="0"/>
              <a:t>• </a:t>
            </a:r>
            <a:r>
              <a:rPr lang="en-GB" b="1" dirty="0"/>
              <a:t>Ethical</a:t>
            </a:r>
            <a:r>
              <a:rPr lang="en-GB" dirty="0"/>
              <a:t>: Ethics play a critical role in research, and a research question should align with ethical considerations and guidelines. Researchers must ensure their study prioritizes participants’ well-being, privacy, and rights </a:t>
            </a:r>
          </a:p>
          <a:p>
            <a:r>
              <a:rPr lang="en-GB" dirty="0"/>
              <a:t>• </a:t>
            </a:r>
            <a:r>
              <a:rPr lang="en-GB" b="1" dirty="0"/>
              <a:t>Relevant</a:t>
            </a:r>
            <a:r>
              <a:rPr lang="en-GB" dirty="0"/>
              <a:t>: Relevance is an essential criterion for a research question, ensuring that the study addresses real-world problems or contributes to advancements in theory or practice </a:t>
            </a:r>
          </a:p>
          <a:p>
            <a:endParaRPr lang="en-IN" dirty="0"/>
          </a:p>
          <a:p>
            <a:r>
              <a:rPr lang="en-GB" dirty="0"/>
              <a:t>Researchers can critically evaluate and refine their research questions using the FINER technique to ensure feasibility, interestingness, novelty, ethical integrity, and relevance. This evaluation process enhances the quality and impact of the research, leading to more focused and purposeful studies: </a:t>
            </a:r>
            <a:endParaRPr lang="en-IN" dirty="0"/>
          </a:p>
        </p:txBody>
      </p:sp>
    </p:spTree>
    <p:extLst>
      <p:ext uri="{BB962C8B-B14F-4D97-AF65-F5344CB8AC3E}">
        <p14:creationId xmlns:p14="http://schemas.microsoft.com/office/powerpoint/2010/main" val="2427017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2BF34-2466-4200-8151-4D2193E66C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6F757B-EF20-42B4-9B15-DAC9A15D02E9}"/>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B8FF6463-65DA-43D8-BBE0-4763880CE1B5}"/>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DAC9DB93-81B7-422A-97A1-3B921568263C}"/>
              </a:ext>
            </a:extLst>
          </p:cNvPr>
          <p:cNvSpPr>
            <a:spLocks noGrp="1"/>
          </p:cNvSpPr>
          <p:nvPr>
            <p:ph type="sldNum" sz="quarter" idx="12"/>
          </p:nvPr>
        </p:nvSpPr>
        <p:spPr/>
        <p:txBody>
          <a:bodyPr/>
          <a:lstStyle/>
          <a:p>
            <a:fld id="{6D993E8C-417D-409F-980C-1BF59389D040}" type="slidenum">
              <a:rPr lang="en-IN" smtClean="0"/>
              <a:t>7</a:t>
            </a:fld>
            <a:endParaRPr lang="en-IN"/>
          </a:p>
        </p:txBody>
      </p:sp>
      <p:pic>
        <p:nvPicPr>
          <p:cNvPr id="6" name="Picture 5">
            <a:extLst>
              <a:ext uri="{FF2B5EF4-FFF2-40B4-BE49-F238E27FC236}">
                <a16:creationId xmlns:a16="http://schemas.microsoft.com/office/drawing/2014/main" id="{09663673-EE0D-430E-ADC2-F87E591670C4}"/>
              </a:ext>
            </a:extLst>
          </p:cNvPr>
          <p:cNvPicPr>
            <a:picLocks noChangeAspect="1"/>
          </p:cNvPicPr>
          <p:nvPr/>
        </p:nvPicPr>
        <p:blipFill>
          <a:blip r:embed="rId2"/>
          <a:stretch>
            <a:fillRect/>
          </a:stretch>
        </p:blipFill>
        <p:spPr>
          <a:xfrm>
            <a:off x="968828" y="357068"/>
            <a:ext cx="10254343" cy="5754442"/>
          </a:xfrm>
          <a:prstGeom prst="rect">
            <a:avLst/>
          </a:prstGeom>
        </p:spPr>
      </p:pic>
    </p:spTree>
    <p:extLst>
      <p:ext uri="{BB962C8B-B14F-4D97-AF65-F5344CB8AC3E}">
        <p14:creationId xmlns:p14="http://schemas.microsoft.com/office/powerpoint/2010/main" val="122891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E66C941-DF43-45C9-BF9F-2F1BEEBEBAD1}"/>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EAF525E5-243E-4C21-BD0B-B42D1C1B268A}"/>
              </a:ext>
            </a:extLst>
          </p:cNvPr>
          <p:cNvSpPr>
            <a:spLocks noGrp="1"/>
          </p:cNvSpPr>
          <p:nvPr>
            <p:ph type="sldNum" sz="quarter" idx="12"/>
          </p:nvPr>
        </p:nvSpPr>
        <p:spPr/>
        <p:txBody>
          <a:bodyPr/>
          <a:lstStyle/>
          <a:p>
            <a:fld id="{6D993E8C-417D-409F-980C-1BF59389D040}" type="slidenum">
              <a:rPr lang="en-IN" smtClean="0"/>
              <a:t>8</a:t>
            </a:fld>
            <a:endParaRPr lang="en-IN"/>
          </a:p>
        </p:txBody>
      </p:sp>
      <p:sp>
        <p:nvSpPr>
          <p:cNvPr id="6" name="Title 1">
            <a:extLst>
              <a:ext uri="{FF2B5EF4-FFF2-40B4-BE49-F238E27FC236}">
                <a16:creationId xmlns:a16="http://schemas.microsoft.com/office/drawing/2014/main" id="{EDD713AA-9DC9-40A2-9677-9914B0C51C7A}"/>
              </a:ext>
            </a:extLst>
          </p:cNvPr>
          <p:cNvSpPr>
            <a:spLocks noGrp="1"/>
          </p:cNvSpPr>
          <p:nvPr>
            <p:ph idx="1"/>
          </p:nvPr>
        </p:nvSpPr>
        <p:spPr>
          <a:xfrm>
            <a:off x="1660525" y="239713"/>
            <a:ext cx="9844088" cy="5672137"/>
          </a:xfrm>
        </p:spPr>
        <p:txBody>
          <a:bodyPr/>
          <a:lstStyle/>
          <a:p>
            <a:r>
              <a:rPr lang="en-IN"/>
              <a:t>SPICE </a:t>
            </a:r>
          </a:p>
          <a:p>
            <a:r>
              <a:rPr lang="en-GB"/>
              <a:t>The SPICE framework is commonly used in social sciences and qualitative research. It helps researchers narrow down the research problem by considering specific elements. Setting refers to the context or environment of the research. Perspective involves identifying the viewpoints or perspectives of the individuals involved. Intervention refers to the actions or changes being studied. Comparison is the alternative or control group, and evaluation refers to the desired outcome or impact. </a:t>
            </a:r>
          </a:p>
          <a:p>
            <a:r>
              <a:rPr lang="en-GB"/>
              <a:t>The framework guides users through five components: </a:t>
            </a:r>
          </a:p>
          <a:p>
            <a:r>
              <a:rPr lang="en-IN"/>
              <a:t>• Setting – where? </a:t>
            </a:r>
          </a:p>
          <a:p>
            <a:r>
              <a:rPr lang="en-IN"/>
              <a:t>• Perspective – for whom? </a:t>
            </a:r>
          </a:p>
          <a:p>
            <a:r>
              <a:rPr lang="en-IN"/>
              <a:t>• Intervention – what? </a:t>
            </a:r>
          </a:p>
          <a:p>
            <a:r>
              <a:rPr lang="en-IN"/>
              <a:t>• Comparison – compared with what? </a:t>
            </a:r>
          </a:p>
          <a:p>
            <a:r>
              <a:rPr lang="en-IN"/>
              <a:t>• Evaluation – with what result? </a:t>
            </a:r>
          </a:p>
          <a:p>
            <a:endParaRPr lang="en-IN"/>
          </a:p>
          <a:p>
            <a:r>
              <a:rPr lang="en-GB" b="1"/>
              <a:t>Although this technique is mainly used for social sciences, to some extent, it can be applied to any field: </a:t>
            </a:r>
            <a:endParaRPr lang="en-IN"/>
          </a:p>
        </p:txBody>
      </p:sp>
    </p:spTree>
    <p:extLst>
      <p:ext uri="{BB962C8B-B14F-4D97-AF65-F5344CB8AC3E}">
        <p14:creationId xmlns:p14="http://schemas.microsoft.com/office/powerpoint/2010/main" val="2129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D330B-CA0C-403B-8961-DB7FB98AC0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980125-5E7C-4F4E-A8EB-39A077366BCD}"/>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2EF5DCF-648F-459D-9000-0840C7993C5D}"/>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2AF73743-274E-48B3-860D-F13DFFF4AEB0}"/>
              </a:ext>
            </a:extLst>
          </p:cNvPr>
          <p:cNvSpPr>
            <a:spLocks noGrp="1"/>
          </p:cNvSpPr>
          <p:nvPr>
            <p:ph type="sldNum" sz="quarter" idx="12"/>
          </p:nvPr>
        </p:nvSpPr>
        <p:spPr/>
        <p:txBody>
          <a:bodyPr/>
          <a:lstStyle/>
          <a:p>
            <a:fld id="{6D993E8C-417D-409F-980C-1BF59389D040}" type="slidenum">
              <a:rPr lang="en-IN" smtClean="0"/>
              <a:t>9</a:t>
            </a:fld>
            <a:endParaRPr lang="en-IN"/>
          </a:p>
        </p:txBody>
      </p:sp>
      <p:pic>
        <p:nvPicPr>
          <p:cNvPr id="6" name="Picture 5">
            <a:extLst>
              <a:ext uri="{FF2B5EF4-FFF2-40B4-BE49-F238E27FC236}">
                <a16:creationId xmlns:a16="http://schemas.microsoft.com/office/drawing/2014/main" id="{58B20791-2F66-46F8-80FE-8FDF4A0755D2}"/>
              </a:ext>
            </a:extLst>
          </p:cNvPr>
          <p:cNvPicPr>
            <a:picLocks noChangeAspect="1"/>
          </p:cNvPicPr>
          <p:nvPr/>
        </p:nvPicPr>
        <p:blipFill>
          <a:blip r:embed="rId2"/>
          <a:stretch>
            <a:fillRect/>
          </a:stretch>
        </p:blipFill>
        <p:spPr>
          <a:xfrm>
            <a:off x="1089919" y="0"/>
            <a:ext cx="10012161" cy="6858000"/>
          </a:xfrm>
          <a:prstGeom prst="rect">
            <a:avLst/>
          </a:prstGeom>
        </p:spPr>
      </p:pic>
    </p:spTree>
    <p:extLst>
      <p:ext uri="{BB962C8B-B14F-4D97-AF65-F5344CB8AC3E}">
        <p14:creationId xmlns:p14="http://schemas.microsoft.com/office/powerpoint/2010/main" val="3650925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BE534F-AEC7-4C44-8889-F9B2D407F8B4}"/>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13F75DD8-D9CB-40AB-BBCB-383542BF80EE}"/>
              </a:ext>
            </a:extLst>
          </p:cNvPr>
          <p:cNvSpPr>
            <a:spLocks noGrp="1"/>
          </p:cNvSpPr>
          <p:nvPr>
            <p:ph type="sldNum" sz="quarter" idx="12"/>
          </p:nvPr>
        </p:nvSpPr>
        <p:spPr/>
        <p:txBody>
          <a:bodyPr/>
          <a:lstStyle/>
          <a:p>
            <a:fld id="{6D993E8C-417D-409F-980C-1BF59389D040}" type="slidenum">
              <a:rPr lang="en-IN" smtClean="0"/>
              <a:t>10</a:t>
            </a:fld>
            <a:endParaRPr lang="en-IN"/>
          </a:p>
        </p:txBody>
      </p:sp>
      <p:sp>
        <p:nvSpPr>
          <p:cNvPr id="6" name="Title 1">
            <a:extLst>
              <a:ext uri="{FF2B5EF4-FFF2-40B4-BE49-F238E27FC236}">
                <a16:creationId xmlns:a16="http://schemas.microsoft.com/office/drawing/2014/main" id="{CC5611FC-18EB-43C8-B9CA-D8F3100D8657}"/>
              </a:ext>
            </a:extLst>
          </p:cNvPr>
          <p:cNvSpPr>
            <a:spLocks noGrp="1"/>
          </p:cNvSpPr>
          <p:nvPr>
            <p:ph idx="1"/>
          </p:nvPr>
        </p:nvSpPr>
        <p:spPr>
          <a:xfrm>
            <a:off x="1589088" y="254000"/>
            <a:ext cx="9915525" cy="5657850"/>
          </a:xfrm>
        </p:spPr>
        <p:txBody>
          <a:bodyPr/>
          <a:lstStyle/>
          <a:p>
            <a:r>
              <a:rPr lang="en-IN"/>
              <a:t>Gap Analysis </a:t>
            </a:r>
          </a:p>
          <a:p>
            <a:r>
              <a:rPr lang="en-GB"/>
              <a:t>This framework requires a thorough review of the existing literature and identifying gaps or knowledge deficits in the field. By critically analyzing previous studies and identifying areas that haven’t been adequately addressed or require further exploration, researchers can narrow down the research problem and focus on addressing these gaps. </a:t>
            </a:r>
            <a:r>
              <a:rPr lang="en-GB" b="1"/>
              <a:t>Gap analysis helps ensure the research problem is relevant and contributes to the existing body of knowledge. </a:t>
            </a:r>
            <a:endParaRPr lang="en-GB"/>
          </a:p>
          <a:p>
            <a:r>
              <a:rPr lang="en-GB"/>
              <a:t>Using gap analysis tables might provide structure to this approach: </a:t>
            </a:r>
          </a:p>
          <a:p>
            <a:r>
              <a:rPr lang="en-GB" b="1"/>
              <a:t>It’s possible to get a hint about a research gap and the direction from the recommendations for future research sections in available research. </a:t>
            </a:r>
            <a:endParaRPr lang="en-IN"/>
          </a:p>
        </p:txBody>
      </p:sp>
    </p:spTree>
    <p:extLst>
      <p:ext uri="{BB962C8B-B14F-4D97-AF65-F5344CB8AC3E}">
        <p14:creationId xmlns:p14="http://schemas.microsoft.com/office/powerpoint/2010/main" val="2587129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D7F1D-6EF1-4D1F-997C-8380F71DC041}"/>
              </a:ext>
            </a:extLst>
          </p:cNvPr>
          <p:cNvSpPr>
            <a:spLocks noGrp="1"/>
          </p:cNvSpPr>
          <p:nvPr>
            <p:ph type="title"/>
          </p:nvPr>
        </p:nvSpPr>
        <p:spPr/>
        <p:txBody>
          <a:bodyPr/>
          <a:lstStyle/>
          <a:p>
            <a:r>
              <a:rPr lang="en-GB" dirty="0"/>
              <a:t>The problem solution framework</a:t>
            </a:r>
            <a:endParaRPr lang="en-IN" dirty="0"/>
          </a:p>
        </p:txBody>
      </p:sp>
      <p:sp>
        <p:nvSpPr>
          <p:cNvPr id="3" name="Content Placeholder 2">
            <a:extLst>
              <a:ext uri="{FF2B5EF4-FFF2-40B4-BE49-F238E27FC236}">
                <a16:creationId xmlns:a16="http://schemas.microsoft.com/office/drawing/2014/main" id="{85F5B8BA-63AE-4769-89D4-5189E8B77574}"/>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A134FCC9-6500-48A0-A371-B4C86F49C076}"/>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623A136C-A5B8-47B2-8B1E-94CF4808D5A3}"/>
              </a:ext>
            </a:extLst>
          </p:cNvPr>
          <p:cNvSpPr>
            <a:spLocks noGrp="1"/>
          </p:cNvSpPr>
          <p:nvPr>
            <p:ph type="sldNum" sz="quarter" idx="12"/>
          </p:nvPr>
        </p:nvSpPr>
        <p:spPr/>
        <p:txBody>
          <a:bodyPr/>
          <a:lstStyle/>
          <a:p>
            <a:fld id="{6D993E8C-417D-409F-980C-1BF59389D040}" type="slidenum">
              <a:rPr lang="en-IN" smtClean="0"/>
              <a:t>11</a:t>
            </a:fld>
            <a:endParaRPr lang="en-IN"/>
          </a:p>
        </p:txBody>
      </p:sp>
      <p:pic>
        <p:nvPicPr>
          <p:cNvPr id="6" name="Picture 5">
            <a:extLst>
              <a:ext uri="{FF2B5EF4-FFF2-40B4-BE49-F238E27FC236}">
                <a16:creationId xmlns:a16="http://schemas.microsoft.com/office/drawing/2014/main" id="{81544B0C-DF8A-46D8-A41F-49CCD7AF09E2}"/>
              </a:ext>
            </a:extLst>
          </p:cNvPr>
          <p:cNvPicPr>
            <a:picLocks noChangeAspect="1"/>
          </p:cNvPicPr>
          <p:nvPr/>
        </p:nvPicPr>
        <p:blipFill>
          <a:blip r:embed="rId2"/>
          <a:stretch>
            <a:fillRect/>
          </a:stretch>
        </p:blipFill>
        <p:spPr>
          <a:xfrm>
            <a:off x="531812" y="1383996"/>
            <a:ext cx="11411659" cy="5474003"/>
          </a:xfrm>
          <a:prstGeom prst="rect">
            <a:avLst/>
          </a:prstGeom>
        </p:spPr>
      </p:pic>
    </p:spTree>
    <p:extLst>
      <p:ext uri="{BB962C8B-B14F-4D97-AF65-F5344CB8AC3E}">
        <p14:creationId xmlns:p14="http://schemas.microsoft.com/office/powerpoint/2010/main" val="66934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0A1FC-75D9-4E9C-9F7F-BB5D432B9AD4}"/>
              </a:ext>
            </a:extLst>
          </p:cNvPr>
          <p:cNvSpPr>
            <a:spLocks noGrp="1"/>
          </p:cNvSpPr>
          <p:nvPr>
            <p:ph type="title"/>
          </p:nvPr>
        </p:nvSpPr>
        <p:spPr>
          <a:xfrm>
            <a:off x="1786597" y="624110"/>
            <a:ext cx="9873591" cy="951472"/>
          </a:xfrm>
        </p:spPr>
        <p:txBody>
          <a:bodyPr>
            <a:normAutofit fontScale="90000"/>
          </a:bodyPr>
          <a:lstStyle/>
          <a:p>
            <a:r>
              <a:rPr lang="en-IN" dirty="0"/>
              <a:t>The Context-Action-Result (CAR) Framework </a:t>
            </a:r>
          </a:p>
        </p:txBody>
      </p:sp>
      <p:pic>
        <p:nvPicPr>
          <p:cNvPr id="6" name="Content Placeholder 5">
            <a:extLst>
              <a:ext uri="{FF2B5EF4-FFF2-40B4-BE49-F238E27FC236}">
                <a16:creationId xmlns:a16="http://schemas.microsoft.com/office/drawing/2014/main" id="{3D16ACC4-E08D-4112-9025-717CBEE41693}"/>
              </a:ext>
            </a:extLst>
          </p:cNvPr>
          <p:cNvPicPr>
            <a:picLocks noGrp="1" noChangeAspect="1"/>
          </p:cNvPicPr>
          <p:nvPr>
            <p:ph idx="1"/>
          </p:nvPr>
        </p:nvPicPr>
        <p:blipFill>
          <a:blip r:embed="rId2"/>
          <a:stretch>
            <a:fillRect/>
          </a:stretch>
        </p:blipFill>
        <p:spPr>
          <a:xfrm>
            <a:off x="787791" y="1281425"/>
            <a:ext cx="11071274" cy="5442931"/>
          </a:xfrm>
          <a:prstGeom prst="rect">
            <a:avLst/>
          </a:prstGeom>
        </p:spPr>
      </p:pic>
      <p:sp>
        <p:nvSpPr>
          <p:cNvPr id="4" name="Footer Placeholder 3">
            <a:extLst>
              <a:ext uri="{FF2B5EF4-FFF2-40B4-BE49-F238E27FC236}">
                <a16:creationId xmlns:a16="http://schemas.microsoft.com/office/drawing/2014/main" id="{CC166A8A-1ED3-45DC-8F48-C0CC10A853D2}"/>
              </a:ext>
            </a:extLst>
          </p:cNvPr>
          <p:cNvSpPr>
            <a:spLocks noGrp="1"/>
          </p:cNvSpPr>
          <p:nvPr>
            <p:ph type="ftr" sz="quarter" idx="11"/>
          </p:nvPr>
        </p:nvSpPr>
        <p:spPr/>
        <p:txBody>
          <a:bodyPr/>
          <a:lstStyle/>
          <a:p>
            <a:r>
              <a:rPr lang="en-US"/>
              <a:t>Jain (Deemed-to-be University), Department of BCA</a:t>
            </a:r>
            <a:endParaRPr lang="en-IN"/>
          </a:p>
        </p:txBody>
      </p:sp>
      <p:sp>
        <p:nvSpPr>
          <p:cNvPr id="5" name="Slide Number Placeholder 4">
            <a:extLst>
              <a:ext uri="{FF2B5EF4-FFF2-40B4-BE49-F238E27FC236}">
                <a16:creationId xmlns:a16="http://schemas.microsoft.com/office/drawing/2014/main" id="{ACF890AD-A587-4E2C-9E21-68AD4DD53747}"/>
              </a:ext>
            </a:extLst>
          </p:cNvPr>
          <p:cNvSpPr>
            <a:spLocks noGrp="1"/>
          </p:cNvSpPr>
          <p:nvPr>
            <p:ph type="sldNum" sz="quarter" idx="12"/>
          </p:nvPr>
        </p:nvSpPr>
        <p:spPr/>
        <p:txBody>
          <a:bodyPr/>
          <a:lstStyle/>
          <a:p>
            <a:fld id="{6D993E8C-417D-409F-980C-1BF59389D040}" type="slidenum">
              <a:rPr lang="en-IN" smtClean="0"/>
              <a:t>12</a:t>
            </a:fld>
            <a:endParaRPr lang="en-IN"/>
          </a:p>
        </p:txBody>
      </p:sp>
    </p:spTree>
    <p:extLst>
      <p:ext uri="{BB962C8B-B14F-4D97-AF65-F5344CB8AC3E}">
        <p14:creationId xmlns:p14="http://schemas.microsoft.com/office/powerpoint/2010/main" val="1279895173"/>
      </p:ext>
    </p:extLst>
  </p:cSld>
  <p:clrMapOvr>
    <a:masterClrMapping/>
  </p:clrMapOvr>
</p:sld>
</file>

<file path=ppt/theme/theme1.xml><?xml version="1.0" encoding="utf-8"?>
<a:theme xmlns:a="http://schemas.openxmlformats.org/drawingml/2006/main" name="Theme1">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3741</TotalTime>
  <Words>660</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Arial Black</vt:lpstr>
      <vt:lpstr>Calibri</vt:lpstr>
      <vt:lpstr>Century Gothic</vt:lpstr>
      <vt:lpstr>Times New Roman</vt:lpstr>
      <vt:lpstr>Wingdings</vt:lpstr>
      <vt:lpstr>Wingdings 3</vt:lpstr>
      <vt:lpstr>Theme1</vt:lpstr>
      <vt:lpstr>Custom Design</vt:lpstr>
      <vt:lpstr>School of Computer Science &amp; IT  Programme: BCA</vt:lpstr>
      <vt:lpstr>Session -5</vt:lpstr>
      <vt:lpstr>Necessity of Defining the problem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problem solution framework</vt:lpstr>
      <vt:lpstr>The Context-Action-Result (CAR) Framework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M Dutta</dc:creator>
  <cp:lastModifiedBy>Admin</cp:lastModifiedBy>
  <cp:revision>503</cp:revision>
  <dcterms:created xsi:type="dcterms:W3CDTF">2020-04-29T14:56:43Z</dcterms:created>
  <dcterms:modified xsi:type="dcterms:W3CDTF">2024-07-12T20:24:49Z</dcterms:modified>
</cp:coreProperties>
</file>