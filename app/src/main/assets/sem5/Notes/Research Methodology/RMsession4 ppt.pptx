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</p:sldMasterIdLst>
  <p:notesMasterIdLst>
    <p:notesMasterId r:id="rId20"/>
  </p:notesMasterIdLst>
  <p:sldIdLst>
    <p:sldId id="399" r:id="rId3"/>
    <p:sldId id="400" r:id="rId4"/>
    <p:sldId id="411" r:id="rId5"/>
    <p:sldId id="412" r:id="rId6"/>
    <p:sldId id="413" r:id="rId7"/>
    <p:sldId id="414" r:id="rId8"/>
    <p:sldId id="415" r:id="rId9"/>
    <p:sldId id="416" r:id="rId10"/>
    <p:sldId id="401" r:id="rId11"/>
    <p:sldId id="402" r:id="rId12"/>
    <p:sldId id="404" r:id="rId13"/>
    <p:sldId id="405" r:id="rId14"/>
    <p:sldId id="406" r:id="rId15"/>
    <p:sldId id="408" r:id="rId16"/>
    <p:sldId id="409" r:id="rId17"/>
    <p:sldId id="410" r:id="rId18"/>
    <p:sldId id="40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 Dutta" initials="MD" lastIdx="1" clrIdx="0">
    <p:extLst>
      <p:ext uri="{19B8F6BF-5375-455C-9EA6-DF929625EA0E}">
        <p15:presenceInfo xmlns:p15="http://schemas.microsoft.com/office/powerpoint/2012/main" userId="b2a02bd806a326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779"/>
    <a:srgbClr val="2C03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08" autoAdjust="0"/>
    <p:restoredTop sz="94660"/>
  </p:normalViewPr>
  <p:slideViewPr>
    <p:cSldViewPr snapToGrid="0">
      <p:cViewPr varScale="1">
        <p:scale>
          <a:sx n="68" d="100"/>
          <a:sy n="68" d="100"/>
        </p:scale>
        <p:origin x="57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470AC6-4411-4DD1-86D9-7A8854C25663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4AA98B-BCE1-4F73-A511-223A3E5BB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40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993E8C-417D-409F-980C-1BF59389D040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>
            <a:lvl1pPr algn="just">
              <a:defRPr>
                <a:latin typeface="Times New Roman" pitchFamily="18" charset="0"/>
                <a:cs typeface="Times New Roman" pitchFamily="18" charset="0"/>
              </a:defRPr>
            </a:lvl1pPr>
            <a:lvl2pPr algn="just">
              <a:defRPr>
                <a:latin typeface="Times New Roman" pitchFamily="18" charset="0"/>
                <a:cs typeface="Times New Roman" pitchFamily="18" charset="0"/>
              </a:defRPr>
            </a:lvl2pPr>
            <a:lvl3pPr algn="just">
              <a:defRPr>
                <a:latin typeface="Times New Roman" pitchFamily="18" charset="0"/>
                <a:cs typeface="Times New Roman" pitchFamily="18" charset="0"/>
              </a:defRPr>
            </a:lvl3pPr>
            <a:lvl4pPr algn="just">
              <a:defRPr>
                <a:latin typeface="Times New Roman" pitchFamily="18" charset="0"/>
                <a:cs typeface="Times New Roman" pitchFamily="18" charset="0"/>
              </a:defRPr>
            </a:lvl4pPr>
            <a:lvl5pPr algn="just"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E8C-417D-409F-980C-1BF59389D0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993E8C-417D-409F-980C-1BF59389D0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993E8C-417D-409F-980C-1BF59389D0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993E8C-417D-409F-980C-1BF59389D0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E8C-417D-409F-980C-1BF59389D0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E8C-417D-409F-980C-1BF59389D0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E8C-417D-409F-980C-1BF59389D0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993E8C-417D-409F-980C-1BF59389D0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993E8C-417D-409F-980C-1BF59389D0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993E8C-417D-409F-980C-1BF59389D04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993E8C-417D-409F-980C-1BF59389D0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993E8C-417D-409F-980C-1BF59389D040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993E8C-417D-409F-980C-1BF59389D0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E8C-417D-409F-980C-1BF59389D0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E8C-417D-409F-980C-1BF59389D0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51E63-B61D-4219-A760-CAA95A64B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991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51E63-B61D-4219-A760-CAA95A64B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7453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51E63-B61D-4219-A760-CAA95A64B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5896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51E63-B61D-4219-A760-CAA95A64B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547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51E63-B61D-4219-A760-CAA95A64B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330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51E63-B61D-4219-A760-CAA95A64B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244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51E63-B61D-4219-A760-CAA95A64B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9188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51E63-B61D-4219-A760-CAA95A64B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9435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51E63-B61D-4219-A760-CAA95A64B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9778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51E63-B61D-4219-A760-CAA95A64B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569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51E63-B61D-4219-A760-CAA95A64B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5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993E8C-417D-409F-980C-1BF59389D04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Jain (Deemed-to-be University), Department of BCA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51E63-B61D-4219-A760-CAA95A64B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73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F807E-52CF-46B9-A50F-DD0A9412D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1155"/>
            <a:ext cx="9144000" cy="90058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&amp; IT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Programme: BCA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E9A171-80E0-4AD4-9463-4D7207E71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1395" y="3244741"/>
            <a:ext cx="9349241" cy="2008067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METHODOLOGY(22</a:t>
            </a:r>
            <a:r>
              <a:rPr lang="en-IN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BCA5RM01)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 to Research</a:t>
            </a:r>
            <a:endParaRPr lang="en-US" sz="2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Jain (Deemed-to-be University), Department of BCA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E8C-417D-409F-980C-1BF59389D040}" type="slidenum">
              <a:rPr lang="en-IN" smtClean="0"/>
              <a:t>1</a:t>
            </a:fld>
            <a:endParaRPr lang="en-IN" dirty="0"/>
          </a:p>
        </p:txBody>
      </p:sp>
      <p:pic>
        <p:nvPicPr>
          <p:cNvPr id="1026" name="Picture 2" descr="C:\Users\Ameen\Downloads\WhatsApp Image 2020-08-12 at 8.54.12 AM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77" y="0"/>
            <a:ext cx="3319738" cy="63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6992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682"/>
            <a:ext cx="10515600" cy="964504"/>
          </a:xfrm>
        </p:spPr>
        <p:txBody>
          <a:bodyPr/>
          <a:lstStyle/>
          <a:p>
            <a:r>
              <a:rPr lang="en-US" dirty="0">
                <a:latin typeface="Arial Black" pitchFamily="34" charset="0"/>
              </a:rPr>
              <a:t>Session -4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3752" y="2170583"/>
            <a:ext cx="9320048" cy="200608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2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is a Research Problem</a:t>
            </a:r>
          </a:p>
          <a:p>
            <a:pPr>
              <a:buFont typeface="Wingdings" pitchFamily="2" charset="2"/>
              <a:buChar char="Ø"/>
            </a:pPr>
            <a:r>
              <a:rPr lang="en-IN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Selecting the </a:t>
            </a:r>
            <a:r>
              <a:rPr lang="en-IN" sz="2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Research problem</a:t>
            </a:r>
            <a:endParaRPr lang="en-IN" sz="28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28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E8C-417D-409F-980C-1BF59389D04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22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58DD2-40D9-46CE-9AC0-11A810C61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Problem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54E578-3181-4DAF-8CF4-184A631A2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to investigate.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situation to be changed or addressed.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E9B48-9822-4108-825E-5F6EF10E6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E8C-417D-409F-980C-1BF59389D040}" type="slidenum">
              <a:rPr lang="en-IN" smtClean="0"/>
              <a:t>3</a:t>
            </a:fld>
            <a:endParaRPr lang="en-IN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F54941B8-47B5-4CD0-B82D-C652F181F4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88" y="1372180"/>
            <a:ext cx="11185744" cy="4539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4447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ACFF3-7CBD-4114-8E5C-5BC455018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Problem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A94A59-3DB6-4B8D-A6C1-3EE956F35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913F14-ED4D-4ED8-8CBE-8EA1B59BC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E8C-417D-409F-980C-1BF59389D040}" type="slidenum">
              <a:rPr lang="en-IN" smtClean="0"/>
              <a:t>4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80EE78D-EA65-4355-B6D2-E30CA1C31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12" y="1561514"/>
            <a:ext cx="10972801" cy="4350336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Generally speaking a research problem is a situation that needs a solution and for which there are possible solutions or a question that researcher wants to answer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Identification &amp; formulation of a research problem is the first step of the research process.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Selection of research problem depends on several factors such as researcher’s knowledge, skills, interest, expertise, motivation &amp;creativity with respect to the subject of inquiry.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It is believed that most of the good research studies need lots of time for selection of a research problem.</a:t>
            </a:r>
          </a:p>
        </p:txBody>
      </p:sp>
    </p:spTree>
    <p:extLst>
      <p:ext uri="{BB962C8B-B14F-4D97-AF65-F5344CB8AC3E}">
        <p14:creationId xmlns:p14="http://schemas.microsoft.com/office/powerpoint/2010/main" val="2554726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3DE93-9869-4261-B7B8-6DE1DF6B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Characteristics of a Good Research Problem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B827B3-FE9F-4B65-ADBD-787A2C54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EF8D6C-3DA3-43D7-AD3C-FFB8AC6EB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E8C-417D-409F-980C-1BF59389D040}" type="slidenum">
              <a:rPr lang="en-IN" smtClean="0"/>
              <a:t>5</a:t>
            </a:fld>
            <a:endParaRPr lang="en-I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2ECBC9B-5EE2-4135-8B2D-E5218C56C6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3046" y="1730326"/>
            <a:ext cx="10871567" cy="4181524"/>
          </a:xfrm>
        </p:spPr>
        <p:txBody>
          <a:bodyPr>
            <a:normAutofit/>
          </a:bodyPr>
          <a:lstStyle/>
          <a:p>
            <a:pPr>
              <a:buSzTx/>
              <a:buFont typeface="Wingdings" pitchFamily="2" charset="2"/>
              <a:buChar char="q"/>
            </a:pPr>
            <a:r>
              <a:rPr lang="en-US" sz="2800" dirty="0"/>
              <a:t>Stakeholders will potentially benefit from the knowledge derived from this study</a:t>
            </a:r>
          </a:p>
          <a:p>
            <a:pPr>
              <a:buSzTx/>
              <a:buFont typeface="Wingdings" pitchFamily="2" charset="2"/>
              <a:buChar char="q"/>
            </a:pPr>
            <a:r>
              <a:rPr lang="en-US" sz="2800" dirty="0"/>
              <a:t>Results will be applicable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/>
              <a:t>Results will be theoretically relevant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/>
              <a:t>Findings will lend support to untested theoretical assumptions, extend or challenge an existing theory, or clarify a conflict in the literature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/>
              <a:t>Findings will potentially formulate or alter practice or policies</a:t>
            </a:r>
          </a:p>
          <a:p>
            <a:pPr>
              <a:buSzTx/>
              <a:buFont typeface="Wingdings" pitchFamily="2" charset="2"/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62672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569A3-B4A6-40E8-9A79-C013BA7B1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RESEARCH PROBLEM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29D49-58F9-4A02-9767-47394C279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26C944-81EB-49E8-9719-3044C3EDD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E8C-417D-409F-980C-1BF59389D040}" type="slidenum">
              <a:rPr lang="en-IN" smtClean="0"/>
              <a:t>6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FCC0D4-2D46-4B50-8300-B34CE7046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8" y="1786597"/>
            <a:ext cx="10817225" cy="4125253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sz="2400" b="1" dirty="0"/>
              <a:t>Personal experiences</a:t>
            </a:r>
          </a:p>
          <a:p>
            <a:endParaRPr lang="en-US" sz="2400" dirty="0"/>
          </a:p>
          <a:p>
            <a:r>
              <a:rPr lang="en-US" sz="2400" dirty="0"/>
              <a:t></a:t>
            </a:r>
            <a:r>
              <a:rPr lang="en-US" sz="2400" b="1" dirty="0"/>
              <a:t>Literature sources</a:t>
            </a:r>
          </a:p>
          <a:p>
            <a:endParaRPr lang="en-US" sz="2400" dirty="0"/>
          </a:p>
          <a:p>
            <a:r>
              <a:rPr lang="en-US" sz="2400" dirty="0"/>
              <a:t></a:t>
            </a:r>
            <a:r>
              <a:rPr lang="en-US" sz="2400" b="1" dirty="0"/>
              <a:t>Existing theories </a:t>
            </a:r>
          </a:p>
          <a:p>
            <a:endParaRPr lang="en-US" sz="2400" dirty="0"/>
          </a:p>
          <a:p>
            <a:r>
              <a:rPr lang="en-US" sz="2400" dirty="0"/>
              <a:t></a:t>
            </a:r>
            <a:r>
              <a:rPr lang="en-US" sz="2400" b="1" dirty="0"/>
              <a:t>Previous research </a:t>
            </a:r>
          </a:p>
          <a:p>
            <a:endParaRPr lang="en-US" sz="2400" dirty="0"/>
          </a:p>
          <a:p>
            <a:r>
              <a:rPr lang="en-US" sz="2400" dirty="0"/>
              <a:t></a:t>
            </a:r>
            <a:r>
              <a:rPr lang="en-US" sz="2400" b="1" dirty="0"/>
              <a:t>Academic experiences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308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C403-7983-48FE-8827-AE359393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RESEARCH PROBLEM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913740-61BF-42F8-9E53-92321C933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3ADCD-00C6-4EB8-B80D-97FFD48D7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E8C-417D-409F-980C-1BF59389D040}" type="slidenum">
              <a:rPr lang="en-IN" smtClean="0"/>
              <a:t>7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F834FBA-3F78-44A0-BA91-A9041BCA0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672" y="2110154"/>
            <a:ext cx="10533942" cy="3801696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b="1" dirty="0"/>
              <a:t>Brain storming</a:t>
            </a:r>
          </a:p>
          <a:p>
            <a:endParaRPr lang="en-US" dirty="0"/>
          </a:p>
          <a:p>
            <a:r>
              <a:rPr lang="en-US" dirty="0"/>
              <a:t></a:t>
            </a:r>
            <a:r>
              <a:rPr lang="en-US" b="1" dirty="0"/>
              <a:t>Intuition</a:t>
            </a:r>
          </a:p>
          <a:p>
            <a:endParaRPr lang="en-US" dirty="0"/>
          </a:p>
          <a:p>
            <a:r>
              <a:rPr lang="en-US" dirty="0"/>
              <a:t></a:t>
            </a:r>
            <a:r>
              <a:rPr lang="en-US" b="1" dirty="0"/>
              <a:t>Consultations</a:t>
            </a:r>
          </a:p>
          <a:p>
            <a:endParaRPr lang="en-US" dirty="0"/>
          </a:p>
          <a:p>
            <a:r>
              <a:rPr lang="en-US" dirty="0"/>
              <a:t></a:t>
            </a:r>
            <a:r>
              <a:rPr lang="en-US" b="1" dirty="0"/>
              <a:t>Social issues</a:t>
            </a:r>
          </a:p>
          <a:p>
            <a:endParaRPr lang="en-US" dirty="0"/>
          </a:p>
          <a:p>
            <a:r>
              <a:rPr lang="en-US" dirty="0"/>
              <a:t></a:t>
            </a:r>
            <a:r>
              <a:rPr lang="en-US" b="1" dirty="0"/>
              <a:t>Professional experience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603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02706-74C2-4530-BDD5-906E89EAF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8124"/>
            <a:ext cx="8911687" cy="1280890"/>
          </a:xfrm>
        </p:spPr>
        <p:txBody>
          <a:bodyPr/>
          <a:lstStyle/>
          <a:p>
            <a:r>
              <a:rPr lang="en-US" dirty="0"/>
              <a:t>Steps in identifying</a:t>
            </a:r>
            <a:br>
              <a:rPr lang="en-US" dirty="0"/>
            </a:br>
            <a:r>
              <a:rPr lang="en-US" dirty="0"/>
              <a:t>a research 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B05A6-5741-41CC-A3C3-C65D73CBB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AD20C9-9BDE-4069-8FE4-65E1E2FED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BCC2F-393D-4758-BBC5-DA647461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E8C-417D-409F-980C-1BF59389D040}" type="slidenum">
              <a:rPr lang="en-IN" smtClean="0"/>
              <a:t>8</a:t>
            </a:fld>
            <a:endParaRPr lang="en-IN"/>
          </a:p>
        </p:txBody>
      </p:sp>
      <p:grpSp>
        <p:nvGrpSpPr>
          <p:cNvPr id="6" name="Group 42">
            <a:extLst>
              <a:ext uri="{FF2B5EF4-FFF2-40B4-BE49-F238E27FC236}">
                <a16:creationId xmlns:a16="http://schemas.microsoft.com/office/drawing/2014/main" id="{0E49BEDE-C4FC-432E-B06D-F96668E05137}"/>
              </a:ext>
            </a:extLst>
          </p:cNvPr>
          <p:cNvGrpSpPr>
            <a:grpSpLocks/>
          </p:cNvGrpSpPr>
          <p:nvPr/>
        </p:nvGrpSpPr>
        <p:grpSpPr bwMode="auto">
          <a:xfrm>
            <a:off x="1311578" y="1909015"/>
            <a:ext cx="10505283" cy="4306048"/>
            <a:chOff x="258" y="935"/>
            <a:chExt cx="5706" cy="2980"/>
          </a:xfrm>
        </p:grpSpPr>
        <p:sp>
          <p:nvSpPr>
            <p:cNvPr id="7" name="Rectangle 18">
              <a:extLst>
                <a:ext uri="{FF2B5EF4-FFF2-40B4-BE49-F238E27FC236}">
                  <a16:creationId xmlns:a16="http://schemas.microsoft.com/office/drawing/2014/main" id="{726535E3-F4DC-41B3-A30D-13C71AD3A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3627"/>
              <a:ext cx="2591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b="1"/>
                <a:t>5. Identify the purpose for your study</a:t>
              </a:r>
            </a:p>
          </p:txBody>
        </p:sp>
        <p:sp>
          <p:nvSpPr>
            <p:cNvPr id="8" name="Rectangle 15">
              <a:extLst>
                <a:ext uri="{FF2B5EF4-FFF2-40B4-BE49-F238E27FC236}">
                  <a16:creationId xmlns:a16="http://schemas.microsoft.com/office/drawing/2014/main" id="{C745D524-66CD-45ED-92ED-37AEADC03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7" y="2931"/>
              <a:ext cx="218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b="1"/>
                <a:t>4. Identify a research problem</a:t>
              </a: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C38BE010-E301-47AD-8A98-14772B746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" y="2285"/>
              <a:ext cx="2188" cy="288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b="1"/>
                <a:t>3. Narrow your topic</a:t>
              </a: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A5487ACB-7CCA-4073-AD8E-AB278DED4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" y="935"/>
              <a:ext cx="218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b="1"/>
                <a:t>1. Outline areas of interest</a:t>
              </a:r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2558785D-39C1-4FE0-AEAB-57BDE37FB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3" y="1618"/>
              <a:ext cx="218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b="1" dirty="0"/>
                <a:t>2. Choose a topic</a:t>
              </a:r>
            </a:p>
          </p:txBody>
        </p:sp>
        <p:sp>
          <p:nvSpPr>
            <p:cNvPr id="12" name="Line 21">
              <a:extLst>
                <a:ext uri="{FF2B5EF4-FFF2-40B4-BE49-F238E27FC236}">
                  <a16:creationId xmlns:a16="http://schemas.microsoft.com/office/drawing/2014/main" id="{AFF6CAF8-5F05-43EF-91C9-7810704BFE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1309"/>
              <a:ext cx="0" cy="22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37">
              <a:extLst>
                <a:ext uri="{FF2B5EF4-FFF2-40B4-BE49-F238E27FC236}">
                  <a16:creationId xmlns:a16="http://schemas.microsoft.com/office/drawing/2014/main" id="{28B020E2-1072-4124-8BE7-1110B48048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6" y="1117"/>
              <a:ext cx="1768" cy="1497"/>
              <a:chOff x="3833" y="1117"/>
              <a:chExt cx="1768" cy="1497"/>
            </a:xfrm>
          </p:grpSpPr>
          <p:sp>
            <p:nvSpPr>
              <p:cNvPr id="21" name="Text Box 24">
                <a:extLst>
                  <a:ext uri="{FF2B5EF4-FFF2-40B4-BE49-F238E27FC236}">
                    <a16:creationId xmlns:a16="http://schemas.microsoft.com/office/drawing/2014/main" id="{3F763942-4CD1-4ED3-B6DC-0C5B8BABE5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1" y="1253"/>
                <a:ext cx="1360" cy="6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600" b="1"/>
                  <a:t>Observe your environment</a:t>
                </a:r>
              </a:p>
              <a:p>
                <a:endParaRPr lang="en-US" sz="1600" b="1"/>
              </a:p>
              <a:p>
                <a:r>
                  <a:rPr lang="en-US" sz="1600" b="1"/>
                  <a:t>Be curious</a:t>
                </a:r>
              </a:p>
            </p:txBody>
          </p:sp>
          <p:sp>
            <p:nvSpPr>
              <p:cNvPr id="22" name="Text Box 27">
                <a:extLst>
                  <a:ext uri="{FF2B5EF4-FFF2-40B4-BE49-F238E27FC236}">
                    <a16:creationId xmlns:a16="http://schemas.microsoft.com/office/drawing/2014/main" id="{ED73D0D0-EED4-4475-97A6-E0EF475789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1" y="2160"/>
                <a:ext cx="1081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600" b="1"/>
                  <a:t>Ask questions</a:t>
                </a:r>
              </a:p>
            </p:txBody>
          </p:sp>
          <p:sp>
            <p:nvSpPr>
              <p:cNvPr id="23" name="AutoShape 33">
                <a:extLst>
                  <a:ext uri="{FF2B5EF4-FFF2-40B4-BE49-F238E27FC236}">
                    <a16:creationId xmlns:a16="http://schemas.microsoft.com/office/drawing/2014/main" id="{8A36E3AD-5174-4312-A9DF-F70D1C6E1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1117"/>
                <a:ext cx="499" cy="1497"/>
              </a:xfrm>
              <a:prstGeom prst="leftBrace">
                <a:avLst>
                  <a:gd name="adj1" fmla="val 25000"/>
                  <a:gd name="adj2" fmla="val 50000"/>
                </a:avLst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4" name="Group 38">
              <a:extLst>
                <a:ext uri="{FF2B5EF4-FFF2-40B4-BE49-F238E27FC236}">
                  <a16:creationId xmlns:a16="http://schemas.microsoft.com/office/drawing/2014/main" id="{F7F2EECB-4DA1-481F-AA15-05880DB715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8" y="981"/>
              <a:ext cx="1465" cy="1814"/>
              <a:chOff x="100" y="981"/>
              <a:chExt cx="1465" cy="1814"/>
            </a:xfrm>
          </p:grpSpPr>
          <p:sp>
            <p:nvSpPr>
              <p:cNvPr id="18" name="Text Box 25">
                <a:extLst>
                  <a:ext uri="{FF2B5EF4-FFF2-40B4-BE49-F238E27FC236}">
                    <a16:creationId xmlns:a16="http://schemas.microsoft.com/office/drawing/2014/main" id="{3B48CE88-49EE-4B4F-A783-35D7E01A46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" y="1207"/>
                <a:ext cx="1270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600" b="1"/>
                  <a:t>Read about your interests</a:t>
                </a:r>
              </a:p>
            </p:txBody>
          </p:sp>
          <p:sp>
            <p:nvSpPr>
              <p:cNvPr id="19" name="Text Box 26">
                <a:extLst>
                  <a:ext uri="{FF2B5EF4-FFF2-40B4-BE49-F238E27FC236}">
                    <a16:creationId xmlns:a16="http://schemas.microsoft.com/office/drawing/2014/main" id="{3987D40B-2449-47D5-9010-900A92F904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" y="1797"/>
                <a:ext cx="966" cy="9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600" b="1"/>
                  <a:t>Talk to your </a:t>
                </a:r>
              </a:p>
              <a:p>
                <a:r>
                  <a:rPr lang="en-US" sz="1600" b="1"/>
                  <a:t>Colleagues</a:t>
                </a:r>
              </a:p>
              <a:p>
                <a:endParaRPr lang="en-US" sz="1600"/>
              </a:p>
              <a:p>
                <a:r>
                  <a:rPr lang="en-US" sz="1600" b="1"/>
                  <a:t>Find out what others are doing</a:t>
                </a:r>
              </a:p>
            </p:txBody>
          </p:sp>
          <p:sp>
            <p:nvSpPr>
              <p:cNvPr id="20" name="AutoShape 34">
                <a:extLst>
                  <a:ext uri="{FF2B5EF4-FFF2-40B4-BE49-F238E27FC236}">
                    <a16:creationId xmlns:a16="http://schemas.microsoft.com/office/drawing/2014/main" id="{039FCFCF-91B4-43A8-87E1-7328557DA7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4" y="981"/>
                <a:ext cx="681" cy="1814"/>
              </a:xfrm>
              <a:prstGeom prst="rightBrace">
                <a:avLst>
                  <a:gd name="adj1" fmla="val 22198"/>
                  <a:gd name="adj2" fmla="val 50000"/>
                </a:avLst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5" name="Line 39">
              <a:extLst>
                <a:ext uri="{FF2B5EF4-FFF2-40B4-BE49-F238E27FC236}">
                  <a16:creationId xmlns:a16="http://schemas.microsoft.com/office/drawing/2014/main" id="{CD6937AD-7CE7-4CB3-9FD7-0292F17D9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1991"/>
              <a:ext cx="0" cy="22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40">
              <a:extLst>
                <a:ext uri="{FF2B5EF4-FFF2-40B4-BE49-F238E27FC236}">
                  <a16:creationId xmlns:a16="http://schemas.microsoft.com/office/drawing/2014/main" id="{60BD934B-2625-4AC6-BB58-1A64C33E1E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2659"/>
              <a:ext cx="0" cy="22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41">
              <a:extLst>
                <a:ext uri="{FF2B5EF4-FFF2-40B4-BE49-F238E27FC236}">
                  <a16:creationId xmlns:a16="http://schemas.microsoft.com/office/drawing/2014/main" id="{80F86A59-DB6F-43B8-A74C-C6F508250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3294"/>
              <a:ext cx="0" cy="22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2247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78AF-5705-4C4A-98A5-91636B6FE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0F77C-5489-41F0-815F-4DE78F31B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CCE6E1-D9CE-4905-8A3E-72FF301A8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04657-FC77-4838-AE91-98DB0B0E4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E8C-417D-409F-980C-1BF59389D040}" type="slidenum">
              <a:rPr lang="en-IN" smtClean="0"/>
              <a:t>9</a:t>
            </a:fld>
            <a:endParaRPr lang="en-IN"/>
          </a:p>
        </p:txBody>
      </p:sp>
      <p:pic>
        <p:nvPicPr>
          <p:cNvPr id="6" name="Picture 2" descr="Defining the Research Problem">
            <a:extLst>
              <a:ext uri="{FF2B5EF4-FFF2-40B4-BE49-F238E27FC236}">
                <a16:creationId xmlns:a16="http://schemas.microsoft.com/office/drawing/2014/main" id="{C6FBA7DD-B079-4141-857D-10DF7D87C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99" y="0"/>
            <a:ext cx="10351477" cy="6500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635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076B0-9452-44C7-A868-E035ED857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33D1A-107F-4475-894F-46954C50B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62E011-CFF0-4D9A-BE44-DA9428AEE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45EB7A-5C8E-4816-BCDC-6701ABBB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E8C-417D-409F-980C-1BF59389D040}" type="slidenum">
              <a:rPr lang="en-IN" smtClean="0"/>
              <a:t>10</a:t>
            </a:fld>
            <a:endParaRPr lang="en-IN"/>
          </a:p>
        </p:txBody>
      </p:sp>
      <p:pic>
        <p:nvPicPr>
          <p:cNvPr id="6" name="Picture 2" descr="RMIPR.pptx">
            <a:extLst>
              <a:ext uri="{FF2B5EF4-FFF2-40B4-BE49-F238E27FC236}">
                <a16:creationId xmlns:a16="http://schemas.microsoft.com/office/drawing/2014/main" id="{CA72929A-6520-4BD3-A300-0621C7E56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054" y="0"/>
            <a:ext cx="10325687" cy="670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12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16D00-3B03-46D0-9260-1E5F5BBB4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Selecting the problem and defining its significance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2C736-C164-4ED6-906E-07B10F120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8" y="1463040"/>
            <a:ext cx="11213879" cy="5394960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lang="en-IN" dirty="0"/>
              <a:t> </a:t>
            </a:r>
            <a:r>
              <a:rPr lang="en-IN" b="1" dirty="0"/>
              <a:t>Research Problem No.1 </a:t>
            </a:r>
            <a:endParaRPr lang="en-IN" dirty="0"/>
          </a:p>
          <a:p>
            <a:r>
              <a:rPr lang="en-GB" b="1" dirty="0"/>
              <a:t>Problem Statement: </a:t>
            </a:r>
            <a:r>
              <a:rPr lang="en-GB" dirty="0"/>
              <a:t>"Developing an efficient algorithm for real-time image recognition on low-power mobile devices." </a:t>
            </a:r>
          </a:p>
          <a:p>
            <a:r>
              <a:rPr lang="en-GB" dirty="0"/>
              <a:t>Identify the Research Area: Determine the broad area of computer science your research falls into, such as algorithms, artificial intelligence, mobile computing, etc. </a:t>
            </a:r>
          </a:p>
          <a:p>
            <a:r>
              <a:rPr lang="en-GB" dirty="0"/>
              <a:t>Example: "This research falls under the area of algorithm design and mobile computing." </a:t>
            </a:r>
          </a:p>
          <a:p>
            <a:r>
              <a:rPr lang="en-GB" dirty="0"/>
              <a:t>Review Existing Literature: Conduct a literature review to understand what research has already been done related to your topic. </a:t>
            </a:r>
          </a:p>
          <a:p>
            <a:r>
              <a:rPr lang="en-GB" dirty="0"/>
              <a:t>Identify gaps or limitations in current solutions that your research can address. </a:t>
            </a:r>
          </a:p>
          <a:p>
            <a:r>
              <a:rPr lang="en-GB" dirty="0"/>
              <a:t>Example: "Existing image recognition algorithms often require significant computational resources, which limits their applicability on mobile devices."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3C1585-7561-4225-B280-9BE8A3615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7283B-BB40-47F0-B8B5-53EBD67B9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E8C-417D-409F-980C-1BF59389D04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376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4B62C-4329-4498-A24A-6B67842BC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Selecting the problem and defining its significance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95E5C-FE42-4B1E-8CF5-8250E1094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129" y="1406769"/>
            <a:ext cx="10646483" cy="5451231"/>
          </a:xfrm>
        </p:spPr>
        <p:txBody>
          <a:bodyPr>
            <a:normAutofit fontScale="85000" lnSpcReduction="10000"/>
          </a:bodyPr>
          <a:lstStyle/>
          <a:p>
            <a:endParaRPr lang="en-IN" dirty="0"/>
          </a:p>
          <a:p>
            <a:r>
              <a:rPr lang="en-IN" dirty="0"/>
              <a:t> </a:t>
            </a:r>
          </a:p>
          <a:p>
            <a:r>
              <a:rPr lang="en-GB" dirty="0"/>
              <a:t>Formulate a Specific Problem Statement: Clearly define the problem you aim to solve or the question you aim to answer. </a:t>
            </a:r>
          </a:p>
          <a:p>
            <a:r>
              <a:rPr lang="en-GB" dirty="0"/>
              <a:t>Example: "The specific problem is to develop an algorithm that can perform real-time image recognition with high accuracy on low-power mobile devices." </a:t>
            </a:r>
          </a:p>
          <a:p>
            <a:endParaRPr lang="en-IN" dirty="0"/>
          </a:p>
          <a:p>
            <a:r>
              <a:rPr lang="en-GB" dirty="0"/>
              <a:t>4. Justify the Importance of the Problem: Explain why solving this problem is important or relevant in the field of computer science. </a:t>
            </a:r>
          </a:p>
          <a:p>
            <a:r>
              <a:rPr lang="en-GB" dirty="0"/>
              <a:t>Example: "Efficient image recognition on mobile devices can enable new applications in areas like augmented reality, mobile health, and smart environments." </a:t>
            </a:r>
          </a:p>
          <a:p>
            <a:endParaRPr lang="en-IN" dirty="0"/>
          </a:p>
          <a:p>
            <a:r>
              <a:rPr lang="en-GB" dirty="0"/>
              <a:t>5. State Objectives or Hypotheses: Outline what you aim to achieve or prove through your research. </a:t>
            </a:r>
          </a:p>
          <a:p>
            <a:r>
              <a:rPr lang="en-GB" dirty="0"/>
              <a:t>Example: "The objective is to design an algorithm that achieves a balance between accuracy and computational efficiency, suitable for deployment on mobile platforms." </a:t>
            </a:r>
          </a:p>
          <a:p>
            <a:endParaRPr lang="en-IN" dirty="0"/>
          </a:p>
          <a:p>
            <a:r>
              <a:rPr lang="en-GB" dirty="0"/>
              <a:t>6. Consider Constraints and Feasibility: Assess any constraints or limitations that may impact your research, such as time, resources, or technological constraints. </a:t>
            </a:r>
          </a:p>
          <a:p>
            <a:r>
              <a:rPr lang="en-GB" dirty="0"/>
              <a:t>Example: "The algorithm should be implementable within the computational and memory limits typical of current mobile devices."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833F4-F96C-4B57-BF31-3AC35158A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1EBC4-3283-4CA0-B818-7B03A8734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E8C-417D-409F-980C-1BF59389D04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290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556F8-128A-44D6-A0E9-46717233A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Selecting the problem and defining its significance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76FB8-94AA-473A-A4FE-39BAC4CD5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031" y="2053883"/>
            <a:ext cx="11324492" cy="4804117"/>
          </a:xfrm>
        </p:spPr>
        <p:txBody>
          <a:bodyPr>
            <a:normAutofit fontScale="32500" lnSpcReduction="20000"/>
          </a:bodyPr>
          <a:lstStyle/>
          <a:p>
            <a:endParaRPr lang="en-IN" dirty="0"/>
          </a:p>
          <a:p>
            <a:r>
              <a:rPr lang="en-IN" dirty="0"/>
              <a:t> </a:t>
            </a:r>
          </a:p>
          <a:p>
            <a:r>
              <a:rPr lang="en-GB" sz="5600" dirty="0"/>
              <a:t>7Define Scope and Boundaries: Clearly define what is included and what is excluded from your research. </a:t>
            </a:r>
          </a:p>
          <a:p>
            <a:r>
              <a:rPr lang="en-GB" sz="5600" dirty="0"/>
              <a:t>Example: "This research focuses on developing the algorithm and evaluating its performance on specific mobile hardware; it does not include hardware design or extensive user interface considerations."</a:t>
            </a:r>
            <a:endParaRPr lang="en-IN" sz="5600" dirty="0"/>
          </a:p>
          <a:p>
            <a:r>
              <a:rPr lang="en-GB" sz="5600" dirty="0"/>
              <a:t>8. Formulate Research Questions: Break down the main problem into specific research questions that your study will address. </a:t>
            </a:r>
            <a:endParaRPr lang="en-IN" sz="5600" dirty="0"/>
          </a:p>
          <a:p>
            <a:r>
              <a:rPr lang="en-GB" sz="5600" dirty="0"/>
              <a:t>Example: "What are the key design principles for optimizing image recognition algorithms on mobile devices? How does the proposed algorithm compare with existing solutions in terms of accuracy and efficiency?" </a:t>
            </a:r>
          </a:p>
          <a:p>
            <a:r>
              <a:rPr lang="en-GB" sz="5600" dirty="0"/>
              <a:t>Reflect on any ethical considerations or potential societal impacts of your research. </a:t>
            </a:r>
          </a:p>
          <a:p>
            <a:r>
              <a:rPr lang="en-GB" sz="5600" dirty="0"/>
              <a:t>Example: "Ensure that the algorithm respects user privacy and operates within legal frameworks regarding data usage." </a:t>
            </a:r>
          </a:p>
          <a:p>
            <a:r>
              <a:rPr lang="en-GB" sz="5600" dirty="0"/>
              <a:t>After defining the problem, review your statement for clarity and completeness. </a:t>
            </a:r>
          </a:p>
          <a:p>
            <a:r>
              <a:rPr lang="en-GB" sz="5600" dirty="0"/>
              <a:t>Refine as necessary based on feedback from peers or advisors</a:t>
            </a:r>
            <a:endParaRPr lang="en-IN" sz="5600" dirty="0"/>
          </a:p>
          <a:p>
            <a:r>
              <a:rPr lang="en-GB" sz="5600" dirty="0"/>
              <a:t>Consider Ethical and Societal Implications (if applicable): </a:t>
            </a:r>
          </a:p>
          <a:p>
            <a:r>
              <a:rPr lang="en-IN" sz="5600" dirty="0"/>
              <a:t>Review and Refine: </a:t>
            </a:r>
          </a:p>
          <a:p>
            <a:endParaRPr lang="en-IN" sz="5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DD06E6-856A-413E-886F-4CAEA838E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7EB78-87F6-4A06-953C-FC34AD9F8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E8C-417D-409F-980C-1BF59389D040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307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C3C94-16B8-46CC-9B54-72D2396A0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1175" y="357067"/>
            <a:ext cx="10013437" cy="5554155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Research Problem No. 2 </a:t>
            </a:r>
            <a:endParaRPr lang="en-IN" dirty="0"/>
          </a:p>
          <a:p>
            <a:r>
              <a:rPr lang="en-GB" b="1" dirty="0"/>
              <a:t>Problem Statement: </a:t>
            </a:r>
            <a:r>
              <a:rPr lang="en-GB" dirty="0"/>
              <a:t>"Improving the security of Internet of Things (IoT) devices against cyber attacks." </a:t>
            </a:r>
          </a:p>
          <a:p>
            <a:r>
              <a:rPr lang="en-GB" b="1" dirty="0"/>
              <a:t>Step-by-</a:t>
            </a:r>
            <a:r>
              <a:rPr lang="en-GB" b="1" dirty="0" err="1"/>
              <a:t>blem</a:t>
            </a:r>
            <a:r>
              <a:rPr lang="en-GB" b="1" dirty="0"/>
              <a:t> Statement: </a:t>
            </a:r>
            <a:endParaRPr lang="en-GB" dirty="0"/>
          </a:p>
          <a:p>
            <a:r>
              <a:rPr lang="en-GB" dirty="0"/>
              <a:t>Identify the Broad Area of Interest: Determine the specific field or domain within computer science that your research will address. </a:t>
            </a:r>
          </a:p>
          <a:p>
            <a:r>
              <a:rPr lang="en-GB" dirty="0"/>
              <a:t>Example: "This research falls within the domain of cybersecurity and IoT." </a:t>
            </a:r>
          </a:p>
          <a:p>
            <a:endParaRPr lang="en-IN" dirty="0"/>
          </a:p>
          <a:p>
            <a:r>
              <a:rPr lang="en-GB" dirty="0"/>
              <a:t>Review Existing Literature: Conduct a literature review to understand the current state of research in cybersecurity for IoT devices. </a:t>
            </a:r>
          </a:p>
          <a:p>
            <a:r>
              <a:rPr lang="en-GB" dirty="0"/>
              <a:t>Identify gaps, challenges, or issues that have not been fully addressed. </a:t>
            </a:r>
          </a:p>
          <a:p>
            <a:r>
              <a:rPr lang="en-GB" dirty="0"/>
              <a:t>Example: "Existing literature indicates that IoT devices are vulnerable to various cyber attacks due to their limited computing resources and lack of robust security measures." </a:t>
            </a:r>
          </a:p>
          <a:p>
            <a:endParaRPr lang="en-IN" dirty="0"/>
          </a:p>
          <a:p>
            <a:r>
              <a:rPr lang="en-GB" dirty="0"/>
              <a:t>Formulate a Specific Problem Statement: Clearly define the specific problem or issue you aim to investigate or solve. </a:t>
            </a:r>
          </a:p>
          <a:p>
            <a:r>
              <a:rPr lang="en-GB" dirty="0"/>
              <a:t>Example: "The specific problem is to develop improved security mechanisms that can effectively protect IoT devices from cyber attacks, considering their resource-constrained nature."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B758CF-7ADF-45F4-BBD2-37AF40EBA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6FF291-7897-4015-8EAB-3B492AFA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E8C-417D-409F-980C-1BF59389D040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148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1A402-1110-4506-B7E4-0FD35A81C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5582" y="357067"/>
            <a:ext cx="9929030" cy="5554155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  <a:p>
            <a:r>
              <a:rPr lang="en-GB" dirty="0"/>
              <a:t>Justify the Importance of the Problem: Explain why solving this problem is important or relevant in the context of computer science and society. </a:t>
            </a:r>
          </a:p>
          <a:p>
            <a:r>
              <a:rPr lang="en-GB" dirty="0"/>
              <a:t>Example: "Securing IoT devices is crucial as their widespread adoption continues, and they are increasingly integrated into critical infrastructure, homes, and industrial systems." </a:t>
            </a:r>
          </a:p>
          <a:p>
            <a:endParaRPr lang="en-IN" dirty="0"/>
          </a:p>
          <a:p>
            <a:r>
              <a:rPr lang="en-GB" dirty="0"/>
              <a:t>5. State Objectives or Hypotheses: Outline the objectives of your research or the hypotheses you aim to test. </a:t>
            </a:r>
          </a:p>
          <a:p>
            <a:r>
              <a:rPr lang="en-GB" dirty="0"/>
              <a:t>Example: "The objective is to design and evaluate lightweight cryptographic protocols that can be efficiently implemented on IoT devices without compromising security." </a:t>
            </a:r>
            <a:endParaRPr lang="en-IN" dirty="0"/>
          </a:p>
          <a:p>
            <a:endParaRPr lang="en-IN" dirty="0"/>
          </a:p>
          <a:p>
            <a:r>
              <a:rPr lang="en-GB" dirty="0"/>
              <a:t>Consider Constraints and Feasibility: Assess any limitations or constraints that may impact your research, such as technological, financial, or ethical considerations. </a:t>
            </a:r>
          </a:p>
          <a:p>
            <a:r>
              <a:rPr lang="en-GB" dirty="0"/>
              <a:t>Example: "The research will focus on cryptographic solutions that are computationally feasible for IoT devices with limited processing power and memory." </a:t>
            </a:r>
          </a:p>
          <a:p>
            <a:endParaRPr lang="en-IN" dirty="0"/>
          </a:p>
          <a:p>
            <a:r>
              <a:rPr lang="en-GB" dirty="0"/>
              <a:t>Define Scope and Boundaries: Clearly define what aspects are included and excluded from your research. </a:t>
            </a:r>
          </a:p>
          <a:p>
            <a:r>
              <a:rPr lang="en-GB" dirty="0"/>
              <a:t>Example: "This research focuses on the development and evaluation of cryptographic protocols tailored for IoT devices; it does not address physical security aspects or broader network security issues."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9E46F0-0CA6-4A58-A564-C472FA1D8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3FD01-0C84-448C-92B8-55A65758C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E8C-417D-409F-980C-1BF59389D040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943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67ADC-77AF-4E6F-B5EA-FDE5D1FBF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4055" y="357067"/>
            <a:ext cx="9830557" cy="5554155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lang="en-GB" b="1" dirty="0"/>
              <a:t>Formulate Research Questions: </a:t>
            </a:r>
            <a:r>
              <a:rPr lang="en-GB" dirty="0"/>
              <a:t>Break down the main problem into specific research questions that your study will address. </a:t>
            </a:r>
          </a:p>
          <a:p>
            <a:r>
              <a:rPr lang="en-GB" dirty="0"/>
              <a:t>Example: "What are the key requirements for cryptographic protocols suitable for IoT devices? How do the proposed protocols compare with existing solutions in terms of security and efficiency?" </a:t>
            </a:r>
            <a:endParaRPr lang="en-IN" dirty="0"/>
          </a:p>
          <a:p>
            <a:r>
              <a:rPr lang="en-GB" dirty="0"/>
              <a:t>9. Consider Ethical and Societal Implications (if applicable): Reflect on any ethical considerations or potential societal impacts of your research. </a:t>
            </a:r>
          </a:p>
          <a:p>
            <a:r>
              <a:rPr lang="en-GB" dirty="0"/>
              <a:t>Example: "Ensure that the proposed security mechanisms respect user privacy and comply with regulatory standards regarding data protection." </a:t>
            </a:r>
          </a:p>
          <a:p>
            <a:endParaRPr lang="en-IN" dirty="0"/>
          </a:p>
          <a:p>
            <a:r>
              <a:rPr lang="en-GB" dirty="0"/>
              <a:t>10. Review and Refine: After defining the problem statement, review it for clarity, specificity, and relevance. </a:t>
            </a:r>
          </a:p>
          <a:p>
            <a:r>
              <a:rPr lang="en-GB" dirty="0"/>
              <a:t>Refine as necessary based on feedback from peers, advisors, or stakeholders.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E3F0E-0616-4B39-B139-2CEF92941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D87EB-2D99-4F3A-82D2-8660E8DEF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E8C-417D-409F-980C-1BF59389D040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582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13ACA-A72C-4905-9AB6-731D88C81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96C58-6D83-456A-895B-B2E116FDB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692" y="2133600"/>
            <a:ext cx="11152920" cy="3777622"/>
          </a:xfrm>
        </p:spPr>
        <p:txBody>
          <a:bodyPr/>
          <a:lstStyle/>
          <a:p>
            <a:r>
              <a:rPr lang="en-IN" b="1" dirty="0"/>
              <a:t>Conclusion: </a:t>
            </a:r>
            <a:endParaRPr lang="en-IN" dirty="0"/>
          </a:p>
          <a:p>
            <a:r>
              <a:rPr lang="en-GB" dirty="0"/>
              <a:t>Defining a research problem in computer science involves systematically identifying an area of interest, reviewing existing knowledge, formulating a specific problem statement, and ensuring clarity on objectives, constraints, and ethical considerations. Each step helps in framing a focused and impactful research study.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168659-0F0D-4E05-89FA-CBFAF35D1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Jain (Deemed-to-be University), Department of BCA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522867-A325-4AAD-AF1B-2126B8273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E8C-417D-409F-980C-1BF59389D040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51349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3786</TotalTime>
  <Words>1506</Words>
  <Application>Microsoft Office PowerPoint</Application>
  <PresentationFormat>Widescreen</PresentationFormat>
  <Paragraphs>166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Black</vt:lpstr>
      <vt:lpstr>Calibri</vt:lpstr>
      <vt:lpstr>Century Gothic</vt:lpstr>
      <vt:lpstr>Times New Roman</vt:lpstr>
      <vt:lpstr>Wingdings</vt:lpstr>
      <vt:lpstr>Wingdings 3</vt:lpstr>
      <vt:lpstr>Theme1</vt:lpstr>
      <vt:lpstr>Custom Design</vt:lpstr>
      <vt:lpstr>School of Computer Science &amp; IT  Programme: BCA</vt:lpstr>
      <vt:lpstr>Session -4</vt:lpstr>
      <vt:lpstr>Research Problem</vt:lpstr>
      <vt:lpstr>Research Problem</vt:lpstr>
      <vt:lpstr>Characteristics of a Good Research Problem </vt:lpstr>
      <vt:lpstr>SOURCES OF RESEARCH PROBLEM</vt:lpstr>
      <vt:lpstr>SOURCES OF RESEARCH PROBLEM</vt:lpstr>
      <vt:lpstr>Steps in identifying a research problem</vt:lpstr>
      <vt:lpstr>PowerPoint Presentation</vt:lpstr>
      <vt:lpstr>PowerPoint Presentation</vt:lpstr>
      <vt:lpstr>Selecting the problem and defining its significance</vt:lpstr>
      <vt:lpstr>Selecting the problem and defining its significance</vt:lpstr>
      <vt:lpstr>Selecting the problem and defining its significance</vt:lpstr>
      <vt:lpstr>PowerPoint Presentation</vt:lpstr>
      <vt:lpstr>PowerPoint Presentation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</dc:title>
  <dc:creator>M Dutta</dc:creator>
  <cp:lastModifiedBy>Admin</cp:lastModifiedBy>
  <cp:revision>521</cp:revision>
  <dcterms:created xsi:type="dcterms:W3CDTF">2020-04-29T14:56:43Z</dcterms:created>
  <dcterms:modified xsi:type="dcterms:W3CDTF">2024-07-12T21:05:01Z</dcterms:modified>
</cp:coreProperties>
</file>