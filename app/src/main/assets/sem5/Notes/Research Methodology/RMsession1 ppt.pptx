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7" r:id="rId2"/>
  </p:sldMasterIdLst>
  <p:notesMasterIdLst>
    <p:notesMasterId r:id="rId11"/>
  </p:notesMasterIdLst>
  <p:sldIdLst>
    <p:sldId id="399" r:id="rId3"/>
    <p:sldId id="400" r:id="rId4"/>
    <p:sldId id="426" r:id="rId5"/>
    <p:sldId id="425" r:id="rId6"/>
    <p:sldId id="422" r:id="rId7"/>
    <p:sldId id="427" r:id="rId8"/>
    <p:sldId id="423" r:id="rId9"/>
    <p:sldId id="428"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 Dutta" initials="MD" lastIdx="1" clrIdx="0">
    <p:extLst>
      <p:ext uri="{19B8F6BF-5375-455C-9EA6-DF929625EA0E}">
        <p15:presenceInfo xmlns:p15="http://schemas.microsoft.com/office/powerpoint/2012/main" userId="b2a02bd806a3267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0779"/>
    <a:srgbClr val="2C036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108" autoAdjust="0"/>
    <p:restoredTop sz="94660"/>
  </p:normalViewPr>
  <p:slideViewPr>
    <p:cSldViewPr snapToGrid="0">
      <p:cViewPr varScale="1">
        <p:scale>
          <a:sx n="68" d="100"/>
          <a:sy n="68" d="100"/>
        </p:scale>
        <p:origin x="570" y="7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470AC6-4411-4DD1-86D9-7A8854C25663}" type="datetimeFigureOut">
              <a:rPr lang="en-IN" smtClean="0"/>
              <a:t>13-07-2024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4AA98B-BCE1-4F73-A511-223A3E5BB9D3}" type="slidenum">
              <a:rPr lang="en-IN" smtClean="0"/>
              <a:t>‹#›</a:t>
            </a:fld>
            <a:endParaRPr lang="en-IN"/>
          </a:p>
        </p:txBody>
      </p:sp>
    </p:spTree>
    <p:extLst>
      <p:ext uri="{BB962C8B-B14F-4D97-AF65-F5344CB8AC3E}">
        <p14:creationId xmlns:p14="http://schemas.microsoft.com/office/powerpoint/2010/main" val="1128407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IN" dirty="0"/>
          </a:p>
        </p:txBody>
      </p:sp>
      <p:sp>
        <p:nvSpPr>
          <p:cNvPr id="5" name="Footer Placeholder 4"/>
          <p:cNvSpPr>
            <a:spLocks noGrp="1"/>
          </p:cNvSpPr>
          <p:nvPr>
            <p:ph type="ftr" sz="quarter" idx="11"/>
          </p:nvPr>
        </p:nvSpPr>
        <p:spPr/>
        <p:txBody>
          <a:bodyPr/>
          <a:lstStyle/>
          <a:p>
            <a:r>
              <a:rPr lang="en-US"/>
              <a:t>Jain (Deemed-to-be University), Department of BCA</a:t>
            </a:r>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6D993E8C-417D-409F-980C-1BF59389D040}" type="slidenum">
              <a:rPr lang="en-IN" smtClean="0"/>
              <a:t>‹#›</a:t>
            </a:fld>
            <a:endParaRPr lang="en-I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lvl1pPr>
              <a:defRPr>
                <a:solidFill>
                  <a:srgbClr val="FF0000"/>
                </a:solidFill>
              </a:defRPr>
            </a:lvl1p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lvl1pPr algn="just">
              <a:defRPr>
                <a:latin typeface="Times New Roman" pitchFamily="18" charset="0"/>
                <a:cs typeface="Times New Roman" pitchFamily="18" charset="0"/>
              </a:defRPr>
            </a:lvl1pPr>
            <a:lvl2pPr algn="just">
              <a:defRPr>
                <a:latin typeface="Times New Roman" pitchFamily="18" charset="0"/>
                <a:cs typeface="Times New Roman" pitchFamily="18" charset="0"/>
              </a:defRPr>
            </a:lvl2pPr>
            <a:lvl3pPr algn="just">
              <a:defRPr>
                <a:latin typeface="Times New Roman" pitchFamily="18" charset="0"/>
                <a:cs typeface="Times New Roman" pitchFamily="18" charset="0"/>
              </a:defRPr>
            </a:lvl3pPr>
            <a:lvl4pPr algn="just">
              <a:defRPr>
                <a:latin typeface="Times New Roman" pitchFamily="18" charset="0"/>
                <a:cs typeface="Times New Roman" pitchFamily="18" charset="0"/>
              </a:defRPr>
            </a:lvl4pPr>
            <a:lvl5pPr algn="just">
              <a:defRPr>
                <a:latin typeface="Times New Roman" pitchFamily="18" charset="0"/>
                <a:cs typeface="Times New Roman"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r>
              <a:rPr lang="en-US"/>
              <a:t>Jain (Deemed-to-be University), Department of BCA</a:t>
            </a:r>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D993E8C-417D-409F-980C-1BF59389D040}"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r>
              <a:rPr lang="en-US"/>
              <a:t>Jain (Deemed-to-be University), Department of BCA</a:t>
            </a:r>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D993E8C-417D-409F-980C-1BF59389D040}"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r>
              <a:rPr lang="en-US"/>
              <a:t>Jain (Deemed-to-be University), Department of BCA</a:t>
            </a:r>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6D993E8C-417D-409F-980C-1BF59389D040}"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r>
              <a:rPr lang="en-US"/>
              <a:t>Jain (Deemed-to-be University), Department of BCA</a:t>
            </a:r>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6D993E8C-417D-409F-980C-1BF59389D040}"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r>
              <a:rPr lang="en-US"/>
              <a:t>Jain (Deemed-to-be University), Department of BCA</a:t>
            </a:r>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6D993E8C-417D-409F-980C-1BF59389D040}"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r>
              <a:rPr lang="en-US"/>
              <a:t>Jain (Deemed-to-be University), Department of BCA</a:t>
            </a:r>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6D993E8C-417D-409F-980C-1BF59389D040}"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r>
              <a:rPr lang="en-US"/>
              <a:t>Jain (Deemed-to-be University), Department of BCA</a:t>
            </a:r>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6D993E8C-417D-409F-980C-1BF59389D040}"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r>
              <a:rPr lang="en-US"/>
              <a:t>Jain (Deemed-to-be University), Department of BCA</a:t>
            </a:r>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D993E8C-417D-409F-980C-1BF59389D040}"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r>
              <a:rPr lang="en-US"/>
              <a:t>Jain (Deemed-to-be University), Department of BCA</a:t>
            </a:r>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D993E8C-417D-409F-980C-1BF59389D040}"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r>
              <a:rPr lang="en-US"/>
              <a:t>Jain (Deemed-to-be University), Department of BCA</a:t>
            </a:r>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D993E8C-417D-409F-980C-1BF59389D040}"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r>
              <a:rPr lang="en-US"/>
              <a:t>Jain (Deemed-to-be University), Department of BCA</a:t>
            </a:r>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D993E8C-417D-409F-980C-1BF59389D040}" type="slidenum">
              <a:rPr lang="en-IN" smtClean="0"/>
              <a:t>‹#›</a:t>
            </a:fld>
            <a:endParaRPr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r>
              <a:rPr lang="en-US"/>
              <a:t>Jain (Deemed-to-be University), Department of BCA</a:t>
            </a:r>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D993E8C-417D-409F-980C-1BF59389D040}"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r>
              <a:rPr lang="en-US"/>
              <a:t>Jain (Deemed-to-be University), Department of BCA</a:t>
            </a:r>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D993E8C-417D-409F-980C-1BF59389D040}" type="slidenum">
              <a:rPr lang="en-IN" smtClean="0"/>
              <a:t>‹#›</a:t>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r>
              <a:rPr lang="en-US"/>
              <a:t>Jain (Deemed-to-be University), Department of BCA</a:t>
            </a:r>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D993E8C-417D-409F-980C-1BF59389D040}" type="slidenum">
              <a:rPr lang="en-IN" smtClean="0"/>
              <a:t>‹#›</a:t>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r>
              <a:rPr lang="en-US"/>
              <a:t>Jain (Deemed-to-be University), Department of BCA</a:t>
            </a:r>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D993E8C-417D-409F-980C-1BF59389D040}" type="slidenum">
              <a:rPr lang="en-IN" smtClean="0"/>
              <a:t>‹#›</a:t>
            </a:fld>
            <a:endParaRPr lang="en-I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5"/>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Jain (Deemed-to-be University), Department of BCA</a:t>
            </a:r>
          </a:p>
        </p:txBody>
      </p:sp>
      <p:sp>
        <p:nvSpPr>
          <p:cNvPr id="6" name="Slide Number Placeholder 5"/>
          <p:cNvSpPr>
            <a:spLocks noGrp="1"/>
          </p:cNvSpPr>
          <p:nvPr>
            <p:ph type="sldNum" sz="quarter" idx="12"/>
          </p:nvPr>
        </p:nvSpPr>
        <p:spPr/>
        <p:txBody>
          <a:bodyPr/>
          <a:lstStyle/>
          <a:p>
            <a:fld id="{97651E63-B61D-4219-A760-CAA95A64B0CE}" type="slidenum">
              <a:rPr lang="en-US" smtClean="0"/>
              <a:t>‹#›</a:t>
            </a:fld>
            <a:endParaRPr lang="en-US"/>
          </a:p>
        </p:txBody>
      </p:sp>
    </p:spTree>
    <p:extLst>
      <p:ext uri="{BB962C8B-B14F-4D97-AF65-F5344CB8AC3E}">
        <p14:creationId xmlns:p14="http://schemas.microsoft.com/office/powerpoint/2010/main" val="33222991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Jain (Deemed-to-be University), Department of BCA</a:t>
            </a:r>
          </a:p>
        </p:txBody>
      </p:sp>
      <p:sp>
        <p:nvSpPr>
          <p:cNvPr id="6" name="Slide Number Placeholder 5"/>
          <p:cNvSpPr>
            <a:spLocks noGrp="1"/>
          </p:cNvSpPr>
          <p:nvPr>
            <p:ph type="sldNum" sz="quarter" idx="12"/>
          </p:nvPr>
        </p:nvSpPr>
        <p:spPr/>
        <p:txBody>
          <a:bodyPr/>
          <a:lstStyle/>
          <a:p>
            <a:fld id="{97651E63-B61D-4219-A760-CAA95A64B0CE}" type="slidenum">
              <a:rPr lang="en-US" smtClean="0"/>
              <a:t>‹#›</a:t>
            </a:fld>
            <a:endParaRPr lang="en-US"/>
          </a:p>
        </p:txBody>
      </p:sp>
    </p:spTree>
    <p:extLst>
      <p:ext uri="{BB962C8B-B14F-4D97-AF65-F5344CB8AC3E}">
        <p14:creationId xmlns:p14="http://schemas.microsoft.com/office/powerpoint/2010/main" val="24427453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613" y="4406900"/>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613"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Jain (Deemed-to-be University), Department of BCA</a:t>
            </a:r>
          </a:p>
        </p:txBody>
      </p:sp>
      <p:sp>
        <p:nvSpPr>
          <p:cNvPr id="6" name="Slide Number Placeholder 5"/>
          <p:cNvSpPr>
            <a:spLocks noGrp="1"/>
          </p:cNvSpPr>
          <p:nvPr>
            <p:ph type="sldNum" sz="quarter" idx="12"/>
          </p:nvPr>
        </p:nvSpPr>
        <p:spPr/>
        <p:txBody>
          <a:bodyPr/>
          <a:lstStyle/>
          <a:p>
            <a:fld id="{97651E63-B61D-4219-A760-CAA95A64B0CE}" type="slidenum">
              <a:rPr lang="en-US" smtClean="0"/>
              <a:t>‹#›</a:t>
            </a:fld>
            <a:endParaRPr lang="en-US"/>
          </a:p>
        </p:txBody>
      </p:sp>
    </p:spTree>
    <p:extLst>
      <p:ext uri="{BB962C8B-B14F-4D97-AF65-F5344CB8AC3E}">
        <p14:creationId xmlns:p14="http://schemas.microsoft.com/office/powerpoint/2010/main" val="21465896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4102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600200"/>
            <a:ext cx="54102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Jain (Deemed-to-be University), Department of BCA</a:t>
            </a:r>
          </a:p>
        </p:txBody>
      </p:sp>
      <p:sp>
        <p:nvSpPr>
          <p:cNvPr id="7" name="Slide Number Placeholder 6"/>
          <p:cNvSpPr>
            <a:spLocks noGrp="1"/>
          </p:cNvSpPr>
          <p:nvPr>
            <p:ph type="sldNum" sz="quarter" idx="12"/>
          </p:nvPr>
        </p:nvSpPr>
        <p:spPr/>
        <p:txBody>
          <a:bodyPr/>
          <a:lstStyle/>
          <a:p>
            <a:fld id="{97651E63-B61D-4219-A760-CAA95A64B0CE}" type="slidenum">
              <a:rPr lang="en-US" smtClean="0"/>
              <a:t>‹#›</a:t>
            </a:fld>
            <a:endParaRPr lang="en-US"/>
          </a:p>
        </p:txBody>
      </p:sp>
    </p:spTree>
    <p:extLst>
      <p:ext uri="{BB962C8B-B14F-4D97-AF65-F5344CB8AC3E}">
        <p14:creationId xmlns:p14="http://schemas.microsoft.com/office/powerpoint/2010/main" val="9891547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3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3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2838" y="1535113"/>
            <a:ext cx="538956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2838" y="2174875"/>
            <a:ext cx="538956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US"/>
              <a:t>Jain (Deemed-to-be University), Department of BCA</a:t>
            </a:r>
          </a:p>
        </p:txBody>
      </p:sp>
      <p:sp>
        <p:nvSpPr>
          <p:cNvPr id="9" name="Slide Number Placeholder 8"/>
          <p:cNvSpPr>
            <a:spLocks noGrp="1"/>
          </p:cNvSpPr>
          <p:nvPr>
            <p:ph type="sldNum" sz="quarter" idx="12"/>
          </p:nvPr>
        </p:nvSpPr>
        <p:spPr/>
        <p:txBody>
          <a:bodyPr/>
          <a:lstStyle/>
          <a:p>
            <a:fld id="{97651E63-B61D-4219-A760-CAA95A64B0CE}" type="slidenum">
              <a:rPr lang="en-US" smtClean="0"/>
              <a:t>‹#›</a:t>
            </a:fld>
            <a:endParaRPr lang="en-US"/>
          </a:p>
        </p:txBody>
      </p:sp>
    </p:spTree>
    <p:extLst>
      <p:ext uri="{BB962C8B-B14F-4D97-AF65-F5344CB8AC3E}">
        <p14:creationId xmlns:p14="http://schemas.microsoft.com/office/powerpoint/2010/main" val="24072330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Jain (Deemed-to-be University), Department of BCA</a:t>
            </a:r>
          </a:p>
        </p:txBody>
      </p:sp>
      <p:sp>
        <p:nvSpPr>
          <p:cNvPr id="5" name="Slide Number Placeholder 4"/>
          <p:cNvSpPr>
            <a:spLocks noGrp="1"/>
          </p:cNvSpPr>
          <p:nvPr>
            <p:ph type="sldNum" sz="quarter" idx="12"/>
          </p:nvPr>
        </p:nvSpPr>
        <p:spPr/>
        <p:txBody>
          <a:bodyPr/>
          <a:lstStyle/>
          <a:p>
            <a:fld id="{97651E63-B61D-4219-A760-CAA95A64B0CE}" type="slidenum">
              <a:rPr lang="en-US" smtClean="0"/>
              <a:t>‹#›</a:t>
            </a:fld>
            <a:endParaRPr lang="en-US"/>
          </a:p>
        </p:txBody>
      </p:sp>
    </p:spTree>
    <p:extLst>
      <p:ext uri="{BB962C8B-B14F-4D97-AF65-F5344CB8AC3E}">
        <p14:creationId xmlns:p14="http://schemas.microsoft.com/office/powerpoint/2010/main" val="418652440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a:t>Jain (Deemed-to-be University), Department of BCA</a:t>
            </a:r>
          </a:p>
        </p:txBody>
      </p:sp>
      <p:sp>
        <p:nvSpPr>
          <p:cNvPr id="4" name="Slide Number Placeholder 3"/>
          <p:cNvSpPr>
            <a:spLocks noGrp="1"/>
          </p:cNvSpPr>
          <p:nvPr>
            <p:ph type="sldNum" sz="quarter" idx="12"/>
          </p:nvPr>
        </p:nvSpPr>
        <p:spPr/>
        <p:txBody>
          <a:bodyPr/>
          <a:lstStyle/>
          <a:p>
            <a:fld id="{97651E63-B61D-4219-A760-CAA95A64B0CE}" type="slidenum">
              <a:rPr lang="en-US" smtClean="0"/>
              <a:t>‹#›</a:t>
            </a:fld>
            <a:endParaRPr lang="en-US"/>
          </a:p>
        </p:txBody>
      </p:sp>
    </p:spTree>
    <p:extLst>
      <p:ext uri="{BB962C8B-B14F-4D97-AF65-F5344CB8AC3E}">
        <p14:creationId xmlns:p14="http://schemas.microsoft.com/office/powerpoint/2010/main" val="157191881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40116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7263" y="273050"/>
            <a:ext cx="681513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0" y="1435100"/>
            <a:ext cx="40116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Jain (Deemed-to-be University), Department of BCA</a:t>
            </a:r>
          </a:p>
        </p:txBody>
      </p:sp>
      <p:sp>
        <p:nvSpPr>
          <p:cNvPr id="7" name="Slide Number Placeholder 6"/>
          <p:cNvSpPr>
            <a:spLocks noGrp="1"/>
          </p:cNvSpPr>
          <p:nvPr>
            <p:ph type="sldNum" sz="quarter" idx="12"/>
          </p:nvPr>
        </p:nvSpPr>
        <p:spPr/>
        <p:txBody>
          <a:bodyPr/>
          <a:lstStyle/>
          <a:p>
            <a:fld id="{97651E63-B61D-4219-A760-CAA95A64B0CE}" type="slidenum">
              <a:rPr lang="en-US" smtClean="0"/>
              <a:t>‹#›</a:t>
            </a:fld>
            <a:endParaRPr lang="en-US"/>
          </a:p>
        </p:txBody>
      </p:sp>
    </p:spTree>
    <p:extLst>
      <p:ext uri="{BB962C8B-B14F-4D97-AF65-F5344CB8AC3E}">
        <p14:creationId xmlns:p14="http://schemas.microsoft.com/office/powerpoint/2010/main" val="32379435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188"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188"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188"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Jain (Deemed-to-be University), Department of BCA</a:t>
            </a:r>
          </a:p>
        </p:txBody>
      </p:sp>
      <p:sp>
        <p:nvSpPr>
          <p:cNvPr id="7" name="Slide Number Placeholder 6"/>
          <p:cNvSpPr>
            <a:spLocks noGrp="1"/>
          </p:cNvSpPr>
          <p:nvPr>
            <p:ph type="sldNum" sz="quarter" idx="12"/>
          </p:nvPr>
        </p:nvSpPr>
        <p:spPr/>
        <p:txBody>
          <a:bodyPr/>
          <a:lstStyle/>
          <a:p>
            <a:fld id="{97651E63-B61D-4219-A760-CAA95A64B0CE}" type="slidenum">
              <a:rPr lang="en-US" smtClean="0"/>
              <a:t>‹#›</a:t>
            </a:fld>
            <a:endParaRPr lang="en-US"/>
          </a:p>
        </p:txBody>
      </p:sp>
    </p:spTree>
    <p:extLst>
      <p:ext uri="{BB962C8B-B14F-4D97-AF65-F5344CB8AC3E}">
        <p14:creationId xmlns:p14="http://schemas.microsoft.com/office/powerpoint/2010/main" val="114797786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Jain (Deemed-to-be University), Department of BCA</a:t>
            </a:r>
          </a:p>
        </p:txBody>
      </p:sp>
      <p:sp>
        <p:nvSpPr>
          <p:cNvPr id="6" name="Slide Number Placeholder 5"/>
          <p:cNvSpPr>
            <a:spLocks noGrp="1"/>
          </p:cNvSpPr>
          <p:nvPr>
            <p:ph type="sldNum" sz="quarter" idx="12"/>
          </p:nvPr>
        </p:nvSpPr>
        <p:spPr/>
        <p:txBody>
          <a:bodyPr/>
          <a:lstStyle/>
          <a:p>
            <a:fld id="{97651E63-B61D-4219-A760-CAA95A64B0CE}" type="slidenum">
              <a:rPr lang="en-US" smtClean="0"/>
              <a:t>‹#›</a:t>
            </a:fld>
            <a:endParaRPr lang="en-US"/>
          </a:p>
        </p:txBody>
      </p:sp>
    </p:spTree>
    <p:extLst>
      <p:ext uri="{BB962C8B-B14F-4D97-AF65-F5344CB8AC3E}">
        <p14:creationId xmlns:p14="http://schemas.microsoft.com/office/powerpoint/2010/main" val="229345696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8"/>
            <a:ext cx="80772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Jain (Deemed-to-be University), Department of BCA</a:t>
            </a:r>
          </a:p>
        </p:txBody>
      </p:sp>
      <p:sp>
        <p:nvSpPr>
          <p:cNvPr id="6" name="Slide Number Placeholder 5"/>
          <p:cNvSpPr>
            <a:spLocks noGrp="1"/>
          </p:cNvSpPr>
          <p:nvPr>
            <p:ph type="sldNum" sz="quarter" idx="12"/>
          </p:nvPr>
        </p:nvSpPr>
        <p:spPr/>
        <p:txBody>
          <a:bodyPr/>
          <a:lstStyle/>
          <a:p>
            <a:fld id="{97651E63-B61D-4219-A760-CAA95A64B0CE}" type="slidenum">
              <a:rPr lang="en-US" smtClean="0"/>
              <a:t>‹#›</a:t>
            </a:fld>
            <a:endParaRPr lang="en-US"/>
          </a:p>
        </p:txBody>
      </p:sp>
    </p:spTree>
    <p:extLst>
      <p:ext uri="{BB962C8B-B14F-4D97-AF65-F5344CB8AC3E}">
        <p14:creationId xmlns:p14="http://schemas.microsoft.com/office/powerpoint/2010/main" val="3656053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2.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Jain (Deemed-to-be University), Department of BCA</a:t>
            </a:r>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6D993E8C-417D-409F-980C-1BF59389D040}"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hd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Jain (Deemed-to-be University), Department of BCA</a:t>
            </a:r>
          </a:p>
        </p:txBody>
      </p:sp>
      <p:sp>
        <p:nvSpPr>
          <p:cNvPr id="6" name="Slide Number Placeholder 5"/>
          <p:cNvSpPr>
            <a:spLocks noGrp="1"/>
          </p:cNvSpPr>
          <p:nvPr>
            <p:ph type="sldNum" sz="quarter" idx="4"/>
          </p:nvPr>
        </p:nvSpPr>
        <p:spPr>
          <a:xfrm>
            <a:off x="8737600" y="6356350"/>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651E63-B61D-4219-A760-CAA95A64B0CE}" type="slidenum">
              <a:rPr lang="en-US" smtClean="0"/>
              <a:t>‹#›</a:t>
            </a:fld>
            <a:endParaRPr lang="en-US"/>
          </a:p>
        </p:txBody>
      </p:sp>
    </p:spTree>
    <p:extLst>
      <p:ext uri="{BB962C8B-B14F-4D97-AF65-F5344CB8AC3E}">
        <p14:creationId xmlns:p14="http://schemas.microsoft.com/office/powerpoint/2010/main" val="878773485"/>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video" Target="https://www.youtube.com/embed/1vf8ZvADxfY?feature=oembe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F807E-52CF-46B9-A50F-DD0A9412D47C}"/>
              </a:ext>
            </a:extLst>
          </p:cNvPr>
          <p:cNvSpPr>
            <a:spLocks noGrp="1"/>
          </p:cNvSpPr>
          <p:nvPr>
            <p:ph type="ctrTitle"/>
          </p:nvPr>
        </p:nvSpPr>
        <p:spPr>
          <a:xfrm>
            <a:off x="1524000" y="1461155"/>
            <a:ext cx="9144000" cy="900587"/>
          </a:xfrm>
        </p:spPr>
        <p:txBody>
          <a:bodyPr>
            <a:normAutofit fontScale="90000"/>
          </a:bodyPr>
          <a:lstStyle/>
          <a:p>
            <a:pPr algn="ctr"/>
            <a:r>
              <a:rPr lang="en-IN" sz="3200" b="1" dirty="0">
                <a:latin typeface="Times New Roman" panose="02020603050405020304" pitchFamily="18" charset="0"/>
                <a:cs typeface="Times New Roman" panose="02020603050405020304" pitchFamily="18" charset="0"/>
              </a:rPr>
              <a:t>School of Computer Science &amp; IT</a:t>
            </a:r>
            <a:br>
              <a:rPr lang="en-IN" sz="3200" b="1" dirty="0">
                <a:latin typeface="Times New Roman" panose="02020603050405020304" pitchFamily="18" charset="0"/>
                <a:cs typeface="Times New Roman" panose="02020603050405020304" pitchFamily="18" charset="0"/>
              </a:rPr>
            </a:br>
            <a:br>
              <a:rPr lang="en-IN" sz="3200" b="1" dirty="0">
                <a:latin typeface="Times New Roman" panose="02020603050405020304" pitchFamily="18" charset="0"/>
                <a:cs typeface="Times New Roman" panose="02020603050405020304" pitchFamily="18" charset="0"/>
              </a:rPr>
            </a:br>
            <a:r>
              <a:rPr lang="en-IN" sz="3200" b="1" dirty="0">
                <a:latin typeface="Times New Roman" panose="02020603050405020304" pitchFamily="18" charset="0"/>
                <a:cs typeface="Times New Roman" panose="02020603050405020304" pitchFamily="18" charset="0"/>
              </a:rPr>
              <a:t>Programme: BCA</a:t>
            </a:r>
          </a:p>
        </p:txBody>
      </p:sp>
      <p:sp>
        <p:nvSpPr>
          <p:cNvPr id="3" name="Subtitle 2">
            <a:extLst>
              <a:ext uri="{FF2B5EF4-FFF2-40B4-BE49-F238E27FC236}">
                <a16:creationId xmlns:a16="http://schemas.microsoft.com/office/drawing/2014/main" id="{B6E9A171-80E0-4AD4-9463-4D7207E71F44}"/>
              </a:ext>
            </a:extLst>
          </p:cNvPr>
          <p:cNvSpPr>
            <a:spLocks noGrp="1"/>
          </p:cNvSpPr>
          <p:nvPr>
            <p:ph type="subTitle" idx="1"/>
          </p:nvPr>
        </p:nvSpPr>
        <p:spPr>
          <a:xfrm>
            <a:off x="2071395" y="3244741"/>
            <a:ext cx="9349241" cy="2008067"/>
          </a:xfrm>
        </p:spPr>
        <p:txBody>
          <a:bodyPr>
            <a:normAutofit/>
          </a:bodyPr>
          <a:lstStyle/>
          <a:p>
            <a:pPr algn="ctr"/>
            <a:r>
              <a:rPr lang="en-US" sz="2800" b="1"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RESEARCH METHODOLOGY(22</a:t>
            </a:r>
            <a:r>
              <a:rPr lang="en-IN" sz="2800" b="1"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BCA5RM01)</a:t>
            </a:r>
            <a:endParaRPr lang="en-US" sz="2800" b="1" dirty="0">
              <a:solidFill>
                <a:srgbClr val="C00000"/>
              </a:solidFill>
              <a:latin typeface="Times New Roman" panose="02020603050405020304" pitchFamily="18" charset="0"/>
              <a:cs typeface="Times New Roman" panose="02020603050405020304" pitchFamily="18" charset="0"/>
            </a:endParaRPr>
          </a:p>
          <a:p>
            <a:pPr algn="ctr"/>
            <a:r>
              <a:rPr lang="en-US" sz="3200" b="1" dirty="0">
                <a:solidFill>
                  <a:schemeClr val="accent1">
                    <a:lumMod val="75000"/>
                  </a:schemeClr>
                </a:solidFill>
                <a:latin typeface="Times New Roman" panose="02020603050405020304" pitchFamily="18" charset="0"/>
                <a:cs typeface="Times New Roman" panose="02020603050405020304" pitchFamily="18" charset="0"/>
              </a:rPr>
              <a:t>MODULE 1:</a:t>
            </a:r>
            <a:r>
              <a:rPr lang="en-US" sz="2800" b="1" dirty="0">
                <a:solidFill>
                  <a:schemeClr val="accent1">
                    <a:lumMod val="75000"/>
                  </a:schemeClr>
                </a:solidFill>
                <a:latin typeface="Times New Roman" panose="02020603050405020304" pitchFamily="18" charset="0"/>
                <a:cs typeface="Times New Roman" panose="02020603050405020304" pitchFamily="18" charset="0"/>
              </a:rPr>
              <a:t> Introduction to Research</a:t>
            </a:r>
            <a:endParaRPr lang="en-US" sz="26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5" name="Footer Placeholder 4"/>
          <p:cNvSpPr>
            <a:spLocks noGrp="1"/>
          </p:cNvSpPr>
          <p:nvPr>
            <p:ph type="ftr" sz="quarter" idx="11"/>
          </p:nvPr>
        </p:nvSpPr>
        <p:spPr/>
        <p:txBody>
          <a:bodyPr/>
          <a:lstStyle/>
          <a:p>
            <a:r>
              <a:rPr lang="en-US" dirty="0"/>
              <a:t>Jain (Deemed-to-be University), Department of BCA</a:t>
            </a:r>
            <a:endParaRPr lang="en-IN" dirty="0"/>
          </a:p>
        </p:txBody>
      </p:sp>
      <p:sp>
        <p:nvSpPr>
          <p:cNvPr id="7" name="Slide Number Placeholder 6"/>
          <p:cNvSpPr>
            <a:spLocks noGrp="1"/>
          </p:cNvSpPr>
          <p:nvPr>
            <p:ph type="sldNum" sz="quarter" idx="12"/>
          </p:nvPr>
        </p:nvSpPr>
        <p:spPr/>
        <p:txBody>
          <a:bodyPr/>
          <a:lstStyle/>
          <a:p>
            <a:fld id="{6D993E8C-417D-409F-980C-1BF59389D040}" type="slidenum">
              <a:rPr lang="en-IN" smtClean="0"/>
              <a:t>1</a:t>
            </a:fld>
            <a:endParaRPr lang="en-IN" dirty="0"/>
          </a:p>
        </p:txBody>
      </p:sp>
      <p:pic>
        <p:nvPicPr>
          <p:cNvPr id="1026" name="Picture 2" descr="C:\Users\Ameen\Downloads\WhatsApp Image 2020-08-12 at 8.54.12 AM.jpe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6777" y="0"/>
            <a:ext cx="3319738" cy="632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69921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7682"/>
            <a:ext cx="10515600" cy="964504"/>
          </a:xfrm>
        </p:spPr>
        <p:txBody>
          <a:bodyPr/>
          <a:lstStyle/>
          <a:p>
            <a:r>
              <a:rPr lang="en-US" dirty="0">
                <a:latin typeface="Arial Black" pitchFamily="34" charset="0"/>
              </a:rPr>
              <a:t>Session -1</a:t>
            </a:r>
          </a:p>
        </p:txBody>
      </p:sp>
      <p:sp>
        <p:nvSpPr>
          <p:cNvPr id="3" name="Content Placeholder 2"/>
          <p:cNvSpPr>
            <a:spLocks noGrp="1"/>
          </p:cNvSpPr>
          <p:nvPr>
            <p:ph idx="1"/>
          </p:nvPr>
        </p:nvSpPr>
        <p:spPr>
          <a:xfrm>
            <a:off x="2033752" y="2170583"/>
            <a:ext cx="9320048" cy="2006082"/>
          </a:xfrm>
        </p:spPr>
        <p:txBody>
          <a:bodyPr>
            <a:normAutofit/>
          </a:bodyPr>
          <a:lstStyle/>
          <a:p>
            <a:pPr>
              <a:buFont typeface="Wingdings" pitchFamily="2" charset="2"/>
              <a:buChar char="Ø"/>
            </a:pPr>
            <a:r>
              <a:rPr lang="en-IN" sz="2800" b="1" dirty="0">
                <a:effectLst/>
                <a:latin typeface="Arial" panose="020B0604020202020204" pitchFamily="34" charset="0"/>
                <a:ea typeface="Calibri" panose="020F0502020204030204" pitchFamily="34" charset="0"/>
                <a:cs typeface="Arial" panose="020B0604020202020204" pitchFamily="34" charset="0"/>
              </a:rPr>
              <a:t>Introduction to Research</a:t>
            </a:r>
          </a:p>
          <a:p>
            <a:pPr>
              <a:buFont typeface="Wingdings" pitchFamily="2" charset="2"/>
              <a:buChar char="Ø"/>
            </a:pPr>
            <a:r>
              <a:rPr lang="en-IN" sz="2800" b="1" dirty="0">
                <a:latin typeface="Arial" panose="020B0604020202020204" pitchFamily="34" charset="0"/>
                <a:ea typeface="Calibri" panose="020F0502020204030204" pitchFamily="34" charset="0"/>
                <a:cs typeface="Arial" panose="020B0604020202020204" pitchFamily="34" charset="0"/>
              </a:rPr>
              <a:t>Meaning of Research</a:t>
            </a:r>
          </a:p>
          <a:p>
            <a:pPr>
              <a:buFont typeface="Wingdings" pitchFamily="2" charset="2"/>
              <a:buChar char="Ø"/>
            </a:pPr>
            <a:r>
              <a:rPr lang="en-IN" sz="2800" b="1" dirty="0">
                <a:effectLst/>
                <a:latin typeface="Arial" panose="020B0604020202020204" pitchFamily="34" charset="0"/>
                <a:ea typeface="Calibri" panose="020F0502020204030204" pitchFamily="34" charset="0"/>
                <a:cs typeface="Arial" panose="020B0604020202020204" pitchFamily="34" charset="0"/>
              </a:rPr>
              <a:t>Objective of Research</a:t>
            </a:r>
          </a:p>
          <a:p>
            <a:pPr>
              <a:buFont typeface="Wingdings" pitchFamily="2" charset="2"/>
              <a:buChar char="Ø"/>
            </a:pPr>
            <a:endParaRPr lang="en-US" dirty="0"/>
          </a:p>
          <a:p>
            <a:pPr>
              <a:buFont typeface="Wingdings" pitchFamily="2" charset="2"/>
              <a:buChar char="Ø"/>
            </a:pPr>
            <a:endParaRPr lang="en-US" dirty="0"/>
          </a:p>
          <a:p>
            <a:pPr>
              <a:buFont typeface="Wingdings" pitchFamily="2" charset="2"/>
              <a:buChar char="Ø"/>
            </a:pPr>
            <a:endParaRPr lang="en-US" dirty="0"/>
          </a:p>
        </p:txBody>
      </p:sp>
      <p:sp>
        <p:nvSpPr>
          <p:cNvPr id="5" name="Footer Placeholder 4"/>
          <p:cNvSpPr>
            <a:spLocks noGrp="1"/>
          </p:cNvSpPr>
          <p:nvPr>
            <p:ph type="ftr" sz="quarter" idx="11"/>
          </p:nvPr>
        </p:nvSpPr>
        <p:spPr/>
        <p:txBody>
          <a:bodyPr/>
          <a:lstStyle/>
          <a:p>
            <a:r>
              <a:rPr lang="en-US"/>
              <a:t>Jain (Deemed-to-be University), Department of BCA</a:t>
            </a:r>
            <a:endParaRPr lang="en-IN"/>
          </a:p>
        </p:txBody>
      </p:sp>
      <p:sp>
        <p:nvSpPr>
          <p:cNvPr id="6" name="Slide Number Placeholder 5"/>
          <p:cNvSpPr>
            <a:spLocks noGrp="1"/>
          </p:cNvSpPr>
          <p:nvPr>
            <p:ph type="sldNum" sz="quarter" idx="12"/>
          </p:nvPr>
        </p:nvSpPr>
        <p:spPr/>
        <p:txBody>
          <a:bodyPr/>
          <a:lstStyle/>
          <a:p>
            <a:fld id="{6D993E8C-417D-409F-980C-1BF59389D040}" type="slidenum">
              <a:rPr lang="en-IN" smtClean="0"/>
              <a:t>2</a:t>
            </a:fld>
            <a:endParaRPr lang="en-IN"/>
          </a:p>
        </p:txBody>
      </p:sp>
    </p:spTree>
    <p:extLst>
      <p:ext uri="{BB962C8B-B14F-4D97-AF65-F5344CB8AC3E}">
        <p14:creationId xmlns:p14="http://schemas.microsoft.com/office/powerpoint/2010/main" val="919228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1D7071-F94A-D80C-55D1-C58D925A40DE}"/>
              </a:ext>
            </a:extLst>
          </p:cNvPr>
          <p:cNvSpPr>
            <a:spLocks noGrp="1"/>
          </p:cNvSpPr>
          <p:nvPr>
            <p:ph idx="1"/>
          </p:nvPr>
        </p:nvSpPr>
        <p:spPr>
          <a:xfrm>
            <a:off x="1511558" y="1082351"/>
            <a:ext cx="10431625" cy="5626358"/>
          </a:xfrm>
        </p:spPr>
        <p:txBody>
          <a:bodyPr>
            <a:normAutofit fontScale="55000" lnSpcReduction="20000"/>
          </a:bodyPr>
          <a:lstStyle/>
          <a:p>
            <a:pPr>
              <a:lnSpc>
                <a:spcPct val="120000"/>
              </a:lnSpc>
              <a:spcBef>
                <a:spcPts val="0"/>
              </a:spcBef>
              <a:buFont typeface="Wingdings" panose="05000000000000000000" pitchFamily="2" charset="2"/>
              <a:buChar char="q"/>
            </a:pPr>
            <a:r>
              <a:rPr lang="en-IN" sz="3600" b="1" dirty="0"/>
              <a:t>Research Problem</a:t>
            </a:r>
            <a:r>
              <a:rPr lang="en-IN" sz="3600" dirty="0"/>
              <a:t>:</a:t>
            </a:r>
          </a:p>
          <a:p>
            <a:pPr>
              <a:lnSpc>
                <a:spcPct val="120000"/>
              </a:lnSpc>
              <a:spcBef>
                <a:spcPts val="0"/>
              </a:spcBef>
              <a:buFont typeface="Wingdings" panose="05000000000000000000" pitchFamily="2" charset="2"/>
              <a:buChar char="§"/>
            </a:pPr>
            <a:r>
              <a:rPr lang="en-US" sz="3800" dirty="0">
                <a:effectLst/>
                <a:ea typeface="Calibri" panose="020F0502020204030204" pitchFamily="34" charset="0"/>
              </a:rPr>
              <a:t>Opportunities for getting admission to higher education have been increased due to the availability of a large number of private universities and colleges in the country. In particular, the number of seats for science, engineering and technology education available in India to pursue different degrees is massive. </a:t>
            </a:r>
          </a:p>
          <a:p>
            <a:pPr>
              <a:lnSpc>
                <a:spcPct val="120000"/>
              </a:lnSpc>
              <a:spcBef>
                <a:spcPts val="0"/>
              </a:spcBef>
              <a:buFont typeface="Wingdings" panose="05000000000000000000" pitchFamily="2" charset="2"/>
              <a:buChar char="§"/>
            </a:pPr>
            <a:r>
              <a:rPr lang="en-US" sz="3800" dirty="0">
                <a:effectLst/>
                <a:ea typeface="Calibri" panose="020F0502020204030204" pitchFamily="34" charset="0"/>
              </a:rPr>
              <a:t>There is a great deal of competition among private universities and colleges to get students admitted to their institutions. It facilitates students with weak academic backgrounds to enter technical degree programmes that require relatively higher academic </a:t>
            </a:r>
            <a:r>
              <a:rPr lang="en-US" sz="3800" dirty="0" err="1">
                <a:effectLst/>
                <a:ea typeface="Calibri" panose="020F0502020204030204" pitchFamily="34" charset="0"/>
              </a:rPr>
              <a:t>rigour</a:t>
            </a:r>
            <a:r>
              <a:rPr lang="en-US" sz="3800" dirty="0">
                <a:effectLst/>
                <a:ea typeface="Calibri" panose="020F0502020204030204" pitchFamily="34" charset="0"/>
              </a:rPr>
              <a:t> and requirements. </a:t>
            </a:r>
          </a:p>
          <a:p>
            <a:pPr>
              <a:lnSpc>
                <a:spcPct val="120000"/>
              </a:lnSpc>
              <a:spcBef>
                <a:spcPts val="0"/>
              </a:spcBef>
              <a:buFont typeface="Wingdings" panose="05000000000000000000" pitchFamily="2" charset="2"/>
              <a:buChar char="§"/>
            </a:pPr>
            <a:r>
              <a:rPr lang="en-US" sz="3800" dirty="0">
                <a:effectLst/>
                <a:ea typeface="Calibri" panose="020F0502020204030204" pitchFamily="34" charset="0"/>
              </a:rPr>
              <a:t>Consequently, a significant number of students fail in regular examinations and appear in back paper examinations every semester. Delayed graduation becomes a common matter for many such students. Further, the dropout cases in technical degree programmes are also a reality for academically weak and disadvantaged students.</a:t>
            </a:r>
            <a:endParaRPr lang="en-IN" sz="3800" dirty="0">
              <a:effectLst/>
              <a:ea typeface="Calibri" panose="020F0502020204030204" pitchFamily="34" charset="0"/>
            </a:endParaRPr>
          </a:p>
          <a:p>
            <a:pPr>
              <a:lnSpc>
                <a:spcPct val="120000"/>
              </a:lnSpc>
              <a:spcBef>
                <a:spcPts val="0"/>
              </a:spcBef>
              <a:buFont typeface="Wingdings" panose="05000000000000000000" pitchFamily="2" charset="2"/>
              <a:buChar char="§"/>
            </a:pPr>
            <a:r>
              <a:rPr lang="en-US" sz="3800" dirty="0">
                <a:effectLst/>
                <a:ea typeface="Calibri" panose="020F0502020204030204" pitchFamily="34" charset="0"/>
              </a:rPr>
              <a:t>The negative consequences of students appearing for backlog examinations, facing delayed graduation or resorting to dropout inflict academic challenges for the university and necessitate early interventions and appropriate measures. </a:t>
            </a:r>
          </a:p>
        </p:txBody>
      </p:sp>
      <p:sp>
        <p:nvSpPr>
          <p:cNvPr id="5" name="Slide Number Placeholder 4">
            <a:extLst>
              <a:ext uri="{FF2B5EF4-FFF2-40B4-BE49-F238E27FC236}">
                <a16:creationId xmlns:a16="http://schemas.microsoft.com/office/drawing/2014/main" id="{34AAB759-438A-3984-DD72-A67072FD11AD}"/>
              </a:ext>
            </a:extLst>
          </p:cNvPr>
          <p:cNvSpPr>
            <a:spLocks noGrp="1"/>
          </p:cNvSpPr>
          <p:nvPr>
            <p:ph type="sldNum" sz="quarter" idx="12"/>
          </p:nvPr>
        </p:nvSpPr>
        <p:spPr/>
        <p:txBody>
          <a:bodyPr/>
          <a:lstStyle/>
          <a:p>
            <a:fld id="{6D993E8C-417D-409F-980C-1BF59389D040}" type="slidenum">
              <a:rPr lang="en-IN" smtClean="0"/>
              <a:t>3</a:t>
            </a:fld>
            <a:endParaRPr lang="en-IN"/>
          </a:p>
        </p:txBody>
      </p:sp>
      <p:sp>
        <p:nvSpPr>
          <p:cNvPr id="7" name="TextBox 6">
            <a:extLst>
              <a:ext uri="{FF2B5EF4-FFF2-40B4-BE49-F238E27FC236}">
                <a16:creationId xmlns:a16="http://schemas.microsoft.com/office/drawing/2014/main" id="{C928FBDF-D1AD-1CB4-8277-13149BF1FB9C}"/>
              </a:ext>
            </a:extLst>
          </p:cNvPr>
          <p:cNvSpPr txBox="1"/>
          <p:nvPr/>
        </p:nvSpPr>
        <p:spPr>
          <a:xfrm>
            <a:off x="2507603" y="251414"/>
            <a:ext cx="6097554" cy="523220"/>
          </a:xfrm>
          <a:prstGeom prst="rect">
            <a:avLst/>
          </a:prstGeom>
          <a:noFill/>
        </p:spPr>
        <p:txBody>
          <a:bodyPr wrap="square">
            <a:spAutoFit/>
          </a:bodyPr>
          <a:lstStyle/>
          <a:p>
            <a:r>
              <a:rPr lang="en-US" sz="2800" b="1" dirty="0">
                <a:solidFill>
                  <a:srgbClr val="FF0000"/>
                </a:solidFill>
              </a:rPr>
              <a:t>A Motivating Example</a:t>
            </a:r>
            <a:endParaRPr lang="en-IN" sz="2800" dirty="0">
              <a:solidFill>
                <a:srgbClr val="FF0000"/>
              </a:solidFill>
            </a:endParaRPr>
          </a:p>
        </p:txBody>
      </p:sp>
    </p:spTree>
    <p:extLst>
      <p:ext uri="{BB962C8B-B14F-4D97-AF65-F5344CB8AC3E}">
        <p14:creationId xmlns:p14="http://schemas.microsoft.com/office/powerpoint/2010/main" val="20328537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BA030-F06D-FC01-4B26-EDA781A83D22}"/>
              </a:ext>
            </a:extLst>
          </p:cNvPr>
          <p:cNvSpPr>
            <a:spLocks noGrp="1"/>
          </p:cNvSpPr>
          <p:nvPr>
            <p:ph type="title"/>
          </p:nvPr>
        </p:nvSpPr>
        <p:spPr>
          <a:xfrm>
            <a:off x="2126394" y="357067"/>
            <a:ext cx="8911687" cy="700837"/>
          </a:xfrm>
        </p:spPr>
        <p:txBody>
          <a:bodyPr/>
          <a:lstStyle/>
          <a:p>
            <a:r>
              <a:rPr lang="en-US" b="1" dirty="0"/>
              <a:t>A Motivating Example  …</a:t>
            </a:r>
            <a:endParaRPr lang="en-IN" b="1" dirty="0"/>
          </a:p>
        </p:txBody>
      </p:sp>
      <p:sp>
        <p:nvSpPr>
          <p:cNvPr id="3" name="Content Placeholder 2">
            <a:extLst>
              <a:ext uri="{FF2B5EF4-FFF2-40B4-BE49-F238E27FC236}">
                <a16:creationId xmlns:a16="http://schemas.microsoft.com/office/drawing/2014/main" id="{3FCD07BB-3E2A-F530-50B0-90B054EBEE11}"/>
              </a:ext>
            </a:extLst>
          </p:cNvPr>
          <p:cNvSpPr>
            <a:spLocks noGrp="1"/>
          </p:cNvSpPr>
          <p:nvPr>
            <p:ph idx="1"/>
          </p:nvPr>
        </p:nvSpPr>
        <p:spPr>
          <a:xfrm>
            <a:off x="1502229" y="1152907"/>
            <a:ext cx="10282333" cy="4986636"/>
          </a:xfrm>
        </p:spPr>
        <p:txBody>
          <a:bodyPr>
            <a:normAutofit/>
          </a:bodyPr>
          <a:lstStyle/>
          <a:p>
            <a:pPr>
              <a:lnSpc>
                <a:spcPct val="120000"/>
              </a:lnSpc>
              <a:spcBef>
                <a:spcPts val="0"/>
              </a:spcBef>
              <a:buFont typeface="Wingdings" panose="05000000000000000000" pitchFamily="2" charset="2"/>
              <a:buChar char="q"/>
            </a:pPr>
            <a:r>
              <a:rPr lang="en-US" sz="2400" b="1" dirty="0"/>
              <a:t>Research Question</a:t>
            </a:r>
            <a:r>
              <a:rPr lang="en-US" sz="2400" dirty="0"/>
              <a:t>: How can the students who are at risk of academic adversity and delayed graduation be effectively identified at the early stage of  the academic programmes using machine learning methods?</a:t>
            </a:r>
          </a:p>
          <a:p>
            <a:pPr>
              <a:lnSpc>
                <a:spcPct val="120000"/>
              </a:lnSpc>
              <a:spcBef>
                <a:spcPts val="0"/>
              </a:spcBef>
              <a:buFont typeface="Wingdings" panose="05000000000000000000" pitchFamily="2" charset="2"/>
              <a:buChar char="q"/>
            </a:pPr>
            <a:endParaRPr lang="en-IN" sz="2400" dirty="0"/>
          </a:p>
          <a:p>
            <a:pPr>
              <a:lnSpc>
                <a:spcPct val="120000"/>
              </a:lnSpc>
              <a:spcBef>
                <a:spcPts val="0"/>
              </a:spcBef>
              <a:buFont typeface="Wingdings" panose="05000000000000000000" pitchFamily="2" charset="2"/>
              <a:buChar char="q"/>
            </a:pPr>
            <a:r>
              <a:rPr lang="en-US" sz="2400" b="1" dirty="0"/>
              <a:t>Objectives</a:t>
            </a:r>
            <a:r>
              <a:rPr lang="en-US" sz="2400" dirty="0"/>
              <a:t>: </a:t>
            </a:r>
            <a:r>
              <a:rPr lang="en-US" sz="2400" dirty="0">
                <a:effectLst/>
                <a:ea typeface="Calibri" panose="020F0502020204030204" pitchFamily="34" charset="0"/>
              </a:rPr>
              <a:t>The broad objective of the research is to design and develop an intelligent system following the machine learning approach for early identification of students who are at risk of academic adversity and delayed graduation.</a:t>
            </a:r>
          </a:p>
          <a:p>
            <a:pPr>
              <a:lnSpc>
                <a:spcPct val="120000"/>
              </a:lnSpc>
              <a:spcBef>
                <a:spcPts val="0"/>
              </a:spcBef>
              <a:buFont typeface="Wingdings" panose="05000000000000000000" pitchFamily="2" charset="2"/>
              <a:buChar char="q"/>
            </a:pPr>
            <a:endParaRPr lang="en-US" sz="2400" dirty="0">
              <a:effectLst/>
              <a:ea typeface="Calibri" panose="020F0502020204030204" pitchFamily="34" charset="0"/>
            </a:endParaRPr>
          </a:p>
          <a:p>
            <a:pPr>
              <a:lnSpc>
                <a:spcPct val="120000"/>
              </a:lnSpc>
              <a:spcBef>
                <a:spcPts val="0"/>
              </a:spcBef>
              <a:buFont typeface="Wingdings" panose="05000000000000000000" pitchFamily="2" charset="2"/>
              <a:buChar char="q"/>
            </a:pPr>
            <a:r>
              <a:rPr lang="en-US" sz="2400" b="1" dirty="0"/>
              <a:t>Title</a:t>
            </a:r>
            <a:r>
              <a:rPr lang="en-US" sz="2400" dirty="0"/>
              <a:t>: </a:t>
            </a:r>
            <a:r>
              <a:rPr lang="en-US" sz="2400" dirty="0">
                <a:effectLst/>
                <a:ea typeface="Calibri" panose="020F0502020204030204" pitchFamily="34" charset="0"/>
              </a:rPr>
              <a:t>Design and Development of an Intelligent System for Early Detection of Students at Risk of Delayed Graduation.</a:t>
            </a:r>
          </a:p>
          <a:p>
            <a:pPr marL="0" indent="0">
              <a:lnSpc>
                <a:spcPct val="120000"/>
              </a:lnSpc>
              <a:spcBef>
                <a:spcPts val="0"/>
              </a:spcBef>
              <a:buNone/>
            </a:pPr>
            <a:endParaRPr lang="en-US" sz="2400" dirty="0">
              <a:effectLst/>
              <a:ea typeface="Calibri" panose="020F0502020204030204" pitchFamily="34" charset="0"/>
            </a:endParaRPr>
          </a:p>
          <a:p>
            <a:pPr marL="0" indent="0">
              <a:lnSpc>
                <a:spcPct val="120000"/>
              </a:lnSpc>
              <a:spcBef>
                <a:spcPts val="0"/>
              </a:spcBef>
              <a:buNone/>
            </a:pPr>
            <a:endParaRPr lang="en-US" sz="2400" dirty="0">
              <a:effectLst/>
              <a:ea typeface="Calibri" panose="020F0502020204030204" pitchFamily="34" charset="0"/>
            </a:endParaRPr>
          </a:p>
          <a:p>
            <a:pPr>
              <a:lnSpc>
                <a:spcPct val="120000"/>
              </a:lnSpc>
              <a:spcBef>
                <a:spcPts val="0"/>
              </a:spcBef>
              <a:buFont typeface="Wingdings" panose="05000000000000000000" pitchFamily="2" charset="2"/>
              <a:buChar char="q"/>
            </a:pPr>
            <a:endParaRPr lang="en-IN" dirty="0">
              <a:effectLst/>
              <a:ea typeface="Calibri" panose="020F0502020204030204" pitchFamily="34" charset="0"/>
            </a:endParaRPr>
          </a:p>
        </p:txBody>
      </p:sp>
      <p:sp>
        <p:nvSpPr>
          <p:cNvPr id="5" name="Slide Number Placeholder 4">
            <a:extLst>
              <a:ext uri="{FF2B5EF4-FFF2-40B4-BE49-F238E27FC236}">
                <a16:creationId xmlns:a16="http://schemas.microsoft.com/office/drawing/2014/main" id="{12746CDA-407E-98CD-96AD-565495FF1AA7}"/>
              </a:ext>
            </a:extLst>
          </p:cNvPr>
          <p:cNvSpPr>
            <a:spLocks noGrp="1"/>
          </p:cNvSpPr>
          <p:nvPr>
            <p:ph type="sldNum" sz="quarter" idx="12"/>
          </p:nvPr>
        </p:nvSpPr>
        <p:spPr/>
        <p:txBody>
          <a:bodyPr/>
          <a:lstStyle/>
          <a:p>
            <a:fld id="{6D993E8C-417D-409F-980C-1BF59389D040}" type="slidenum">
              <a:rPr lang="en-IN" smtClean="0"/>
              <a:t>4</a:t>
            </a:fld>
            <a:endParaRPr lang="en-IN"/>
          </a:p>
        </p:txBody>
      </p:sp>
    </p:spTree>
    <p:extLst>
      <p:ext uri="{BB962C8B-B14F-4D97-AF65-F5344CB8AC3E}">
        <p14:creationId xmlns:p14="http://schemas.microsoft.com/office/powerpoint/2010/main" val="3042079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E28E7-33A5-95B3-681B-CE465D0C40A8}"/>
              </a:ext>
            </a:extLst>
          </p:cNvPr>
          <p:cNvSpPr>
            <a:spLocks noGrp="1"/>
          </p:cNvSpPr>
          <p:nvPr>
            <p:ph type="title"/>
          </p:nvPr>
        </p:nvSpPr>
        <p:spPr>
          <a:xfrm>
            <a:off x="2173048" y="442029"/>
            <a:ext cx="8911687" cy="691506"/>
          </a:xfrm>
        </p:spPr>
        <p:txBody>
          <a:bodyPr/>
          <a:lstStyle/>
          <a:p>
            <a:r>
              <a:rPr lang="en-US" b="1" dirty="0"/>
              <a:t>Meaning of Research</a:t>
            </a:r>
            <a:endParaRPr lang="en-IN" b="1" dirty="0"/>
          </a:p>
        </p:txBody>
      </p:sp>
      <p:sp>
        <p:nvSpPr>
          <p:cNvPr id="3" name="Content Placeholder 2">
            <a:extLst>
              <a:ext uri="{FF2B5EF4-FFF2-40B4-BE49-F238E27FC236}">
                <a16:creationId xmlns:a16="http://schemas.microsoft.com/office/drawing/2014/main" id="{317175FE-BA5E-8D1C-E91E-1F92F697BE00}"/>
              </a:ext>
            </a:extLst>
          </p:cNvPr>
          <p:cNvSpPr>
            <a:spLocks noGrp="1"/>
          </p:cNvSpPr>
          <p:nvPr>
            <p:ph idx="1"/>
          </p:nvPr>
        </p:nvSpPr>
        <p:spPr>
          <a:xfrm>
            <a:off x="1311580" y="1222310"/>
            <a:ext cx="10622274" cy="5393094"/>
          </a:xfrm>
        </p:spPr>
        <p:txBody>
          <a:bodyPr>
            <a:noAutofit/>
          </a:bodyPr>
          <a:lstStyle/>
          <a:p>
            <a:pPr>
              <a:spcBef>
                <a:spcPts val="0"/>
              </a:spcBef>
            </a:pPr>
            <a:r>
              <a:rPr lang="en-US" sz="2400" dirty="0">
                <a:solidFill>
                  <a:schemeClr val="tx1"/>
                </a:solidFill>
              </a:rPr>
              <a:t>Research in common parlance refers to a search for knowledge.</a:t>
            </a:r>
          </a:p>
          <a:p>
            <a:pPr>
              <a:spcBef>
                <a:spcPts val="0"/>
              </a:spcBef>
            </a:pPr>
            <a:r>
              <a:rPr lang="en-US" sz="2400" b="0" i="0" u="none" strike="noStrike" baseline="0" dirty="0">
                <a:solidFill>
                  <a:schemeClr val="tx1"/>
                </a:solidFill>
                <a:latin typeface="Times New Roman" panose="02020603050405020304" pitchFamily="18" charset="0"/>
              </a:rPr>
              <a:t>According to </a:t>
            </a:r>
            <a:r>
              <a:rPr lang="en-US" sz="2400" b="0" i="0" u="none" strike="noStrike" baseline="0" dirty="0">
                <a:solidFill>
                  <a:srgbClr val="00B050"/>
                </a:solidFill>
                <a:latin typeface="Times New Roman" panose="02020603050405020304" pitchFamily="18" charset="0"/>
              </a:rPr>
              <a:t>Advanced Learner’s Dictionary of Current English</a:t>
            </a:r>
            <a:r>
              <a:rPr lang="en-US" sz="2400" b="0" i="0" u="none" strike="noStrike" baseline="0" dirty="0">
                <a:solidFill>
                  <a:schemeClr val="tx1"/>
                </a:solidFill>
                <a:latin typeface="Times New Roman" panose="02020603050405020304" pitchFamily="18" charset="0"/>
              </a:rPr>
              <a:t>: Research is “a careful investigation or inquiry specially through search for new facts in </a:t>
            </a:r>
            <a:r>
              <a:rPr lang="en-IN" sz="2400" b="0" i="0" u="none" strike="noStrike" baseline="0" dirty="0">
                <a:solidFill>
                  <a:schemeClr val="tx1"/>
                </a:solidFill>
                <a:latin typeface="Times New Roman" panose="02020603050405020304" pitchFamily="18" charset="0"/>
              </a:rPr>
              <a:t>any branch of knowledge.”</a:t>
            </a:r>
            <a:endParaRPr lang="en-US" sz="2400" dirty="0">
              <a:solidFill>
                <a:schemeClr val="tx1"/>
              </a:solidFill>
            </a:endParaRPr>
          </a:p>
          <a:p>
            <a:pPr>
              <a:spcBef>
                <a:spcPts val="0"/>
              </a:spcBef>
            </a:pPr>
            <a:r>
              <a:rPr lang="en-US" sz="2400" dirty="0">
                <a:solidFill>
                  <a:srgbClr val="00B050"/>
                </a:solidFill>
              </a:rPr>
              <a:t>Redman and </a:t>
            </a:r>
            <a:r>
              <a:rPr lang="en-US" sz="2400" dirty="0" err="1">
                <a:solidFill>
                  <a:srgbClr val="00B050"/>
                </a:solidFill>
              </a:rPr>
              <a:t>Mory</a:t>
            </a:r>
            <a:r>
              <a:rPr lang="en-US" sz="2400" dirty="0">
                <a:solidFill>
                  <a:srgbClr val="00B050"/>
                </a:solidFill>
              </a:rPr>
              <a:t> </a:t>
            </a:r>
            <a:r>
              <a:rPr lang="en-US" sz="2400" dirty="0">
                <a:solidFill>
                  <a:schemeClr val="tx1"/>
                </a:solidFill>
              </a:rPr>
              <a:t>define research:  a “systematized effort to gain new knowledge.”</a:t>
            </a:r>
          </a:p>
          <a:p>
            <a:pPr>
              <a:spcBef>
                <a:spcPts val="0"/>
              </a:spcBef>
            </a:pPr>
            <a:r>
              <a:rPr lang="en-US" sz="2400" b="0" i="0" u="none" strike="noStrike" baseline="0" dirty="0">
                <a:solidFill>
                  <a:srgbClr val="00B050"/>
                </a:solidFill>
                <a:latin typeface="Times New Roman" panose="02020603050405020304" pitchFamily="18" charset="0"/>
              </a:rPr>
              <a:t>Human Nature</a:t>
            </a:r>
            <a:r>
              <a:rPr lang="en-US" sz="2400" b="0" i="0" u="none" strike="noStrike" baseline="0" dirty="0">
                <a:solidFill>
                  <a:schemeClr val="tx1"/>
                </a:solidFill>
                <a:latin typeface="Times New Roman" panose="02020603050405020304" pitchFamily="18" charset="0"/>
              </a:rPr>
              <a:t>: A voyage of discovery</a:t>
            </a:r>
          </a:p>
          <a:p>
            <a:pPr lvl="1">
              <a:spcBef>
                <a:spcPts val="0"/>
              </a:spcBef>
              <a:buFont typeface="Wingdings" panose="05000000000000000000" pitchFamily="2" charset="2"/>
              <a:buChar char="§"/>
            </a:pPr>
            <a:r>
              <a:rPr lang="en-US" sz="2400" b="0" i="0" u="none" strike="noStrike" baseline="0" dirty="0">
                <a:solidFill>
                  <a:schemeClr val="tx1"/>
                </a:solidFill>
                <a:latin typeface="Times New Roman" panose="02020603050405020304" pitchFamily="18" charset="0"/>
              </a:rPr>
              <a:t>We all possess the vital instinct of curiosity for, when the unknown confronts us, we wonder and </a:t>
            </a:r>
          </a:p>
          <a:p>
            <a:pPr lvl="1">
              <a:spcBef>
                <a:spcPts val="0"/>
              </a:spcBef>
              <a:buFont typeface="Wingdings" panose="05000000000000000000" pitchFamily="2" charset="2"/>
              <a:buChar char="§"/>
            </a:pPr>
            <a:r>
              <a:rPr lang="en-US" sz="2400" b="0" i="0" u="none" strike="noStrike" baseline="0" dirty="0">
                <a:solidFill>
                  <a:schemeClr val="tx1"/>
                </a:solidFill>
                <a:latin typeface="Times New Roman" panose="02020603050405020304" pitchFamily="18" charset="0"/>
              </a:rPr>
              <a:t>our curiosity makes us probe and attain full and fuller understanding of the unknown. </a:t>
            </a:r>
          </a:p>
          <a:p>
            <a:pPr>
              <a:spcBef>
                <a:spcPts val="0"/>
              </a:spcBef>
            </a:pPr>
            <a:r>
              <a:rPr lang="en-US" sz="2400" b="0" i="0" u="none" strike="noStrike" baseline="0" dirty="0">
                <a:solidFill>
                  <a:srgbClr val="00B050"/>
                </a:solidFill>
                <a:latin typeface="Times New Roman" panose="02020603050405020304" pitchFamily="18" charset="0"/>
              </a:rPr>
              <a:t>D. </a:t>
            </a:r>
            <a:r>
              <a:rPr lang="en-US" sz="2400" b="0" i="0" u="none" strike="noStrike" baseline="0" dirty="0" err="1">
                <a:solidFill>
                  <a:srgbClr val="00B050"/>
                </a:solidFill>
                <a:latin typeface="Times New Roman" panose="02020603050405020304" pitchFamily="18" charset="0"/>
              </a:rPr>
              <a:t>Slesinger</a:t>
            </a:r>
            <a:r>
              <a:rPr lang="en-US" sz="2400" b="0" i="0" u="none" strike="noStrike" baseline="0" dirty="0">
                <a:solidFill>
                  <a:srgbClr val="00B050"/>
                </a:solidFill>
                <a:latin typeface="Times New Roman" panose="02020603050405020304" pitchFamily="18" charset="0"/>
              </a:rPr>
              <a:t> and M. Stephenson</a:t>
            </a:r>
            <a:r>
              <a:rPr lang="en-US" sz="2400" b="0" i="0" u="none" strike="noStrike" baseline="0" dirty="0">
                <a:solidFill>
                  <a:schemeClr val="tx1"/>
                </a:solidFill>
                <a:latin typeface="Times New Roman" panose="02020603050405020304" pitchFamily="18" charset="0"/>
              </a:rPr>
              <a:t> in the </a:t>
            </a:r>
            <a:r>
              <a:rPr lang="en-US" sz="2400" b="0" i="0" u="none" strike="noStrike" baseline="0" dirty="0" err="1">
                <a:solidFill>
                  <a:schemeClr val="tx1"/>
                </a:solidFill>
                <a:latin typeface="Times New Roman" panose="02020603050405020304" pitchFamily="18" charset="0"/>
              </a:rPr>
              <a:t>Encyclopaedia</a:t>
            </a:r>
            <a:r>
              <a:rPr lang="en-US" sz="2400" b="0" i="0" u="none" strike="noStrike" baseline="0" dirty="0">
                <a:solidFill>
                  <a:schemeClr val="tx1"/>
                </a:solidFill>
                <a:latin typeface="Times New Roman" panose="02020603050405020304" pitchFamily="18" charset="0"/>
              </a:rPr>
              <a:t> of Social Sciences</a:t>
            </a:r>
          </a:p>
          <a:p>
            <a:pPr lvl="1">
              <a:spcBef>
                <a:spcPts val="0"/>
              </a:spcBef>
              <a:buFont typeface="Wingdings" panose="05000000000000000000" pitchFamily="2" charset="2"/>
              <a:buChar char="§"/>
            </a:pPr>
            <a:r>
              <a:rPr lang="en-US" sz="2400" b="0" i="0" u="none" strike="noStrike" baseline="0" dirty="0">
                <a:solidFill>
                  <a:schemeClr val="tx1"/>
                </a:solidFill>
                <a:latin typeface="Times New Roman" panose="02020603050405020304" pitchFamily="18" charset="0"/>
              </a:rPr>
              <a:t>“the manipulation of things, concepts or symbols for the purpose of generalizing to extend, correct or verify knowledge, whether that knowledge aids in construction of theory or in the practice of an art.”</a:t>
            </a:r>
          </a:p>
        </p:txBody>
      </p:sp>
      <p:sp>
        <p:nvSpPr>
          <p:cNvPr id="5" name="Slide Number Placeholder 4">
            <a:extLst>
              <a:ext uri="{FF2B5EF4-FFF2-40B4-BE49-F238E27FC236}">
                <a16:creationId xmlns:a16="http://schemas.microsoft.com/office/drawing/2014/main" id="{AD7F30BC-352A-A4E1-7CDB-2488552CB7AF}"/>
              </a:ext>
            </a:extLst>
          </p:cNvPr>
          <p:cNvSpPr>
            <a:spLocks noGrp="1"/>
          </p:cNvSpPr>
          <p:nvPr>
            <p:ph type="sldNum" sz="quarter" idx="12"/>
          </p:nvPr>
        </p:nvSpPr>
        <p:spPr/>
        <p:txBody>
          <a:bodyPr/>
          <a:lstStyle/>
          <a:p>
            <a:fld id="{6D993E8C-417D-409F-980C-1BF59389D040}" type="slidenum">
              <a:rPr lang="en-IN" smtClean="0"/>
              <a:t>5</a:t>
            </a:fld>
            <a:endParaRPr lang="en-IN"/>
          </a:p>
        </p:txBody>
      </p:sp>
    </p:spTree>
    <p:extLst>
      <p:ext uri="{BB962C8B-B14F-4D97-AF65-F5344CB8AC3E}">
        <p14:creationId xmlns:p14="http://schemas.microsoft.com/office/powerpoint/2010/main" val="17405192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6931A0-1ADA-F23F-F83E-14AB4F791633}"/>
              </a:ext>
            </a:extLst>
          </p:cNvPr>
          <p:cNvSpPr>
            <a:spLocks noGrp="1"/>
          </p:cNvSpPr>
          <p:nvPr>
            <p:ph idx="1"/>
          </p:nvPr>
        </p:nvSpPr>
        <p:spPr>
          <a:xfrm>
            <a:off x="1134038" y="1307689"/>
            <a:ext cx="10517188" cy="5193243"/>
          </a:xfrm>
        </p:spPr>
        <p:txBody>
          <a:bodyPr>
            <a:noAutofit/>
          </a:bodyPr>
          <a:lstStyle/>
          <a:p>
            <a:pPr>
              <a:spcBef>
                <a:spcPts val="0"/>
              </a:spcBef>
            </a:pPr>
            <a:r>
              <a:rPr lang="en-US" sz="2500" b="0" i="0" u="none" strike="noStrike" baseline="0" dirty="0">
                <a:solidFill>
                  <a:schemeClr val="tx1"/>
                </a:solidFill>
                <a:latin typeface="Times New Roman" panose="02020603050405020304" pitchFamily="18" charset="0"/>
              </a:rPr>
              <a:t>An original contribution to the existing stock of knowledge making for its advancement. It is the pursuit of truth with the help of study, observation, comparison and experiment. </a:t>
            </a:r>
          </a:p>
          <a:p>
            <a:pPr>
              <a:spcBef>
                <a:spcPts val="0"/>
              </a:spcBef>
            </a:pPr>
            <a:r>
              <a:rPr lang="en-US" sz="2500" b="0" i="0" u="none" strike="noStrike" baseline="0" dirty="0">
                <a:solidFill>
                  <a:schemeClr val="tx1"/>
                </a:solidFill>
                <a:latin typeface="Times New Roman" panose="02020603050405020304" pitchFamily="18" charset="0"/>
              </a:rPr>
              <a:t>A systematic method:</a:t>
            </a:r>
          </a:p>
          <a:p>
            <a:pPr lvl="1">
              <a:spcBef>
                <a:spcPts val="0"/>
              </a:spcBef>
              <a:buFont typeface="Wingdings" panose="05000000000000000000" pitchFamily="2" charset="2"/>
              <a:buChar char="§"/>
            </a:pPr>
            <a:r>
              <a:rPr lang="en-US" sz="2500" b="0" i="0" u="none" strike="noStrike" baseline="0" dirty="0">
                <a:solidFill>
                  <a:schemeClr val="tx1"/>
                </a:solidFill>
                <a:latin typeface="Times New Roman" panose="02020603050405020304" pitchFamily="18" charset="0"/>
              </a:rPr>
              <a:t>Enunciating /articulating the problem, </a:t>
            </a:r>
          </a:p>
          <a:p>
            <a:pPr lvl="1">
              <a:spcBef>
                <a:spcPts val="0"/>
              </a:spcBef>
              <a:buFont typeface="Wingdings" panose="05000000000000000000" pitchFamily="2" charset="2"/>
              <a:buChar char="§"/>
            </a:pPr>
            <a:r>
              <a:rPr lang="en-US" sz="2500" b="0" i="0" u="none" strike="noStrike" baseline="0" dirty="0">
                <a:solidFill>
                  <a:schemeClr val="tx1"/>
                </a:solidFill>
                <a:latin typeface="Times New Roman" panose="02020603050405020304" pitchFamily="18" charset="0"/>
              </a:rPr>
              <a:t>formulating a hypothesis</a:t>
            </a:r>
            <a:r>
              <a:rPr lang="en-US" sz="2500" dirty="0">
                <a:solidFill>
                  <a:schemeClr val="tx1"/>
                </a:solidFill>
              </a:rPr>
              <a:t> or Questions</a:t>
            </a:r>
            <a:r>
              <a:rPr lang="en-US" sz="2500" b="0" i="0" u="none" strike="noStrike" baseline="0" dirty="0">
                <a:solidFill>
                  <a:schemeClr val="tx1"/>
                </a:solidFill>
                <a:latin typeface="Times New Roman" panose="02020603050405020304" pitchFamily="18" charset="0"/>
              </a:rPr>
              <a:t>, </a:t>
            </a:r>
          </a:p>
          <a:p>
            <a:pPr lvl="1">
              <a:spcBef>
                <a:spcPts val="0"/>
              </a:spcBef>
              <a:buFont typeface="Wingdings" panose="05000000000000000000" pitchFamily="2" charset="2"/>
              <a:buChar char="§"/>
            </a:pPr>
            <a:r>
              <a:rPr lang="en-US" sz="2500" b="0" i="0" u="none" strike="noStrike" baseline="0" dirty="0">
                <a:solidFill>
                  <a:schemeClr val="tx1"/>
                </a:solidFill>
                <a:latin typeface="Times New Roman" panose="02020603050405020304" pitchFamily="18" charset="0"/>
              </a:rPr>
              <a:t>collecting the facts or data, </a:t>
            </a:r>
          </a:p>
          <a:p>
            <a:pPr lvl="1">
              <a:spcBef>
                <a:spcPts val="0"/>
              </a:spcBef>
              <a:buFont typeface="Wingdings" panose="05000000000000000000" pitchFamily="2" charset="2"/>
              <a:buChar char="§"/>
            </a:pPr>
            <a:r>
              <a:rPr lang="en-US" sz="2500" b="0" i="0" u="none" strike="noStrike" baseline="0" dirty="0">
                <a:solidFill>
                  <a:schemeClr val="tx1"/>
                </a:solidFill>
                <a:latin typeface="Times New Roman" panose="02020603050405020304" pitchFamily="18" charset="0"/>
              </a:rPr>
              <a:t>analyzing the facts and reaching certain conclusions either in the form of solutions(s) towards the concerned problem or in certain generalizations for some theoretical formulation.</a:t>
            </a:r>
            <a:endParaRPr lang="en-IN" sz="2500" dirty="0">
              <a:solidFill>
                <a:schemeClr val="tx1"/>
              </a:solidFill>
            </a:endParaRPr>
          </a:p>
          <a:p>
            <a:endParaRPr lang="en-IN" sz="2500" dirty="0"/>
          </a:p>
        </p:txBody>
      </p:sp>
      <p:sp>
        <p:nvSpPr>
          <p:cNvPr id="4" name="Footer Placeholder 3">
            <a:extLst>
              <a:ext uri="{FF2B5EF4-FFF2-40B4-BE49-F238E27FC236}">
                <a16:creationId xmlns:a16="http://schemas.microsoft.com/office/drawing/2014/main" id="{E1278EA9-1419-5728-9DB5-05B3B3105280}"/>
              </a:ext>
            </a:extLst>
          </p:cNvPr>
          <p:cNvSpPr>
            <a:spLocks noGrp="1"/>
          </p:cNvSpPr>
          <p:nvPr>
            <p:ph type="ftr" sz="quarter" idx="11"/>
          </p:nvPr>
        </p:nvSpPr>
        <p:spPr/>
        <p:txBody>
          <a:bodyPr/>
          <a:lstStyle/>
          <a:p>
            <a:r>
              <a:rPr lang="en-US"/>
              <a:t>Jain (Deemed-to-be University), Department of BCA</a:t>
            </a:r>
            <a:endParaRPr lang="en-IN"/>
          </a:p>
        </p:txBody>
      </p:sp>
      <p:sp>
        <p:nvSpPr>
          <p:cNvPr id="5" name="Slide Number Placeholder 4">
            <a:extLst>
              <a:ext uri="{FF2B5EF4-FFF2-40B4-BE49-F238E27FC236}">
                <a16:creationId xmlns:a16="http://schemas.microsoft.com/office/drawing/2014/main" id="{53405FEC-5CE8-A17E-4159-EB441303FC89}"/>
              </a:ext>
            </a:extLst>
          </p:cNvPr>
          <p:cNvSpPr>
            <a:spLocks noGrp="1"/>
          </p:cNvSpPr>
          <p:nvPr>
            <p:ph type="sldNum" sz="quarter" idx="12"/>
          </p:nvPr>
        </p:nvSpPr>
        <p:spPr/>
        <p:txBody>
          <a:bodyPr/>
          <a:lstStyle/>
          <a:p>
            <a:fld id="{6D993E8C-417D-409F-980C-1BF59389D040}" type="slidenum">
              <a:rPr lang="en-IN" smtClean="0"/>
              <a:t>6</a:t>
            </a:fld>
            <a:endParaRPr lang="en-IN"/>
          </a:p>
        </p:txBody>
      </p:sp>
    </p:spTree>
    <p:extLst>
      <p:ext uri="{BB962C8B-B14F-4D97-AF65-F5344CB8AC3E}">
        <p14:creationId xmlns:p14="http://schemas.microsoft.com/office/powerpoint/2010/main" val="19647984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82433-8A16-BC25-AB38-E0C8F3F385F2}"/>
              </a:ext>
            </a:extLst>
          </p:cNvPr>
          <p:cNvSpPr>
            <a:spLocks noGrp="1"/>
          </p:cNvSpPr>
          <p:nvPr>
            <p:ph type="title"/>
          </p:nvPr>
        </p:nvSpPr>
        <p:spPr>
          <a:xfrm>
            <a:off x="1846476" y="357067"/>
            <a:ext cx="8911687" cy="654184"/>
          </a:xfrm>
        </p:spPr>
        <p:txBody>
          <a:bodyPr/>
          <a:lstStyle/>
          <a:p>
            <a:r>
              <a:rPr lang="en-US" b="1" dirty="0"/>
              <a:t>Objective of Research</a:t>
            </a:r>
            <a:endParaRPr lang="en-IN" b="1" dirty="0"/>
          </a:p>
        </p:txBody>
      </p:sp>
      <p:sp>
        <p:nvSpPr>
          <p:cNvPr id="3" name="Content Placeholder 2">
            <a:extLst>
              <a:ext uri="{FF2B5EF4-FFF2-40B4-BE49-F238E27FC236}">
                <a16:creationId xmlns:a16="http://schemas.microsoft.com/office/drawing/2014/main" id="{103E03B5-F865-7182-96E8-FE435AF81CDB}"/>
              </a:ext>
            </a:extLst>
          </p:cNvPr>
          <p:cNvSpPr>
            <a:spLocks noGrp="1"/>
          </p:cNvSpPr>
          <p:nvPr>
            <p:ph idx="1"/>
          </p:nvPr>
        </p:nvSpPr>
        <p:spPr>
          <a:xfrm>
            <a:off x="1399592" y="1349828"/>
            <a:ext cx="10487607" cy="4873689"/>
          </a:xfrm>
        </p:spPr>
        <p:txBody>
          <a:bodyPr>
            <a:normAutofit/>
          </a:bodyPr>
          <a:lstStyle/>
          <a:p>
            <a:r>
              <a:rPr lang="en-US" sz="2000" b="0" i="0" u="none" strike="noStrike" baseline="0" dirty="0">
                <a:solidFill>
                  <a:schemeClr val="tx1"/>
                </a:solidFill>
                <a:latin typeface="Times New Roman" panose="02020603050405020304" pitchFamily="18" charset="0"/>
              </a:rPr>
              <a:t>The purpose of research is to discover answers to questions through the application of scientific procedures. The main aim of research is to find out the truth which is hidden and which has not been discovered as yet. </a:t>
            </a:r>
          </a:p>
          <a:p>
            <a:r>
              <a:rPr lang="en-US" sz="2000" b="0" i="0" u="none" strike="noStrike" baseline="0" dirty="0">
                <a:solidFill>
                  <a:schemeClr val="tx1"/>
                </a:solidFill>
                <a:latin typeface="Times New Roman" panose="02020603050405020304" pitchFamily="18" charset="0"/>
              </a:rPr>
              <a:t>Though each research study has its own specific purpose, the broad objectives:</a:t>
            </a:r>
          </a:p>
          <a:p>
            <a:pPr lvl="1">
              <a:buFont typeface="Wingdings" panose="05000000000000000000" pitchFamily="2" charset="2"/>
              <a:buChar char="q"/>
            </a:pPr>
            <a:r>
              <a:rPr lang="en-US" sz="2000" i="0" u="none" strike="noStrike" baseline="0" dirty="0">
                <a:solidFill>
                  <a:schemeClr val="tx1"/>
                </a:solidFill>
                <a:latin typeface="Times New Roman" panose="02020603050405020304" pitchFamily="18" charset="0"/>
              </a:rPr>
              <a:t>To gain familiarity with a phenomenon or to achieve new insights into it (</a:t>
            </a:r>
            <a:r>
              <a:rPr lang="en-US" sz="2000" i="1" u="none" strike="noStrike" baseline="0" dirty="0">
                <a:solidFill>
                  <a:schemeClr val="tx1"/>
                </a:solidFill>
                <a:latin typeface="Times New Roman" panose="02020603050405020304" pitchFamily="18" charset="0"/>
              </a:rPr>
              <a:t>exploratory </a:t>
            </a:r>
            <a:r>
              <a:rPr lang="en-US" sz="2000" i="0" u="none" strike="noStrike" baseline="0" dirty="0">
                <a:solidFill>
                  <a:schemeClr val="tx1"/>
                </a:solidFill>
                <a:latin typeface="Times New Roman" panose="02020603050405020304" pitchFamily="18" charset="0"/>
              </a:rPr>
              <a:t>or </a:t>
            </a:r>
            <a:r>
              <a:rPr lang="en-US" sz="2000" i="1" u="none" strike="noStrike" baseline="0" dirty="0">
                <a:solidFill>
                  <a:schemeClr val="tx1"/>
                </a:solidFill>
                <a:latin typeface="Times New Roman" panose="02020603050405020304" pitchFamily="18" charset="0"/>
              </a:rPr>
              <a:t>formulative </a:t>
            </a:r>
            <a:r>
              <a:rPr lang="en-US" sz="2000" i="0" u="none" strike="noStrike" baseline="0" dirty="0">
                <a:solidFill>
                  <a:schemeClr val="tx1"/>
                </a:solidFill>
                <a:latin typeface="Times New Roman" panose="02020603050405020304" pitchFamily="18" charset="0"/>
              </a:rPr>
              <a:t>research studies)</a:t>
            </a:r>
          </a:p>
          <a:p>
            <a:pPr lvl="1">
              <a:buFont typeface="Wingdings" panose="05000000000000000000" pitchFamily="2" charset="2"/>
              <a:buChar char="q"/>
            </a:pPr>
            <a:r>
              <a:rPr lang="en-US" sz="2000" i="0" u="none" strike="noStrike" baseline="0" dirty="0">
                <a:solidFill>
                  <a:schemeClr val="tx1"/>
                </a:solidFill>
                <a:latin typeface="Times New Roman" panose="02020603050405020304" pitchFamily="18" charset="0"/>
              </a:rPr>
              <a:t>To portray accurately the characteristics of a particular individual, situation or a group (</a:t>
            </a:r>
            <a:r>
              <a:rPr lang="en-US" sz="2000" i="1" u="none" strike="noStrike" baseline="0" dirty="0">
                <a:solidFill>
                  <a:schemeClr val="tx1"/>
                </a:solidFill>
                <a:latin typeface="Times New Roman" panose="02020603050405020304" pitchFamily="18" charset="0"/>
              </a:rPr>
              <a:t>descriptive </a:t>
            </a:r>
            <a:r>
              <a:rPr lang="en-US" sz="2000" i="0" u="none" strike="noStrike" baseline="0" dirty="0">
                <a:solidFill>
                  <a:schemeClr val="tx1"/>
                </a:solidFill>
                <a:latin typeface="Times New Roman" panose="02020603050405020304" pitchFamily="18" charset="0"/>
              </a:rPr>
              <a:t>research studies)</a:t>
            </a:r>
          </a:p>
          <a:p>
            <a:pPr lvl="1">
              <a:buFont typeface="Wingdings" panose="05000000000000000000" pitchFamily="2" charset="2"/>
              <a:buChar char="q"/>
            </a:pPr>
            <a:r>
              <a:rPr lang="en-US" sz="2000" i="0" u="none" strike="noStrike" baseline="0" dirty="0">
                <a:solidFill>
                  <a:schemeClr val="tx1"/>
                </a:solidFill>
                <a:latin typeface="Times New Roman" panose="02020603050405020304" pitchFamily="18" charset="0"/>
              </a:rPr>
              <a:t>To determine the frequency with which something occurs or with which it is associated with something else (</a:t>
            </a:r>
            <a:r>
              <a:rPr lang="en-US" sz="2000" i="1" u="none" strike="noStrike" baseline="0" dirty="0">
                <a:solidFill>
                  <a:schemeClr val="tx1"/>
                </a:solidFill>
                <a:latin typeface="Times New Roman" panose="02020603050405020304" pitchFamily="18" charset="0"/>
              </a:rPr>
              <a:t>diagnostic </a:t>
            </a:r>
            <a:r>
              <a:rPr lang="en-US" sz="2000" i="0" u="none" strike="noStrike" baseline="0" dirty="0">
                <a:solidFill>
                  <a:schemeClr val="tx1"/>
                </a:solidFill>
                <a:latin typeface="Times New Roman" panose="02020603050405020304" pitchFamily="18" charset="0"/>
              </a:rPr>
              <a:t>research </a:t>
            </a:r>
            <a:r>
              <a:rPr lang="en-IN" sz="2000" i="0" u="none" strike="noStrike" baseline="0" dirty="0">
                <a:solidFill>
                  <a:schemeClr val="tx1"/>
                </a:solidFill>
                <a:latin typeface="Times New Roman" panose="02020603050405020304" pitchFamily="18" charset="0"/>
              </a:rPr>
              <a:t>studies);</a:t>
            </a:r>
          </a:p>
          <a:p>
            <a:pPr lvl="1">
              <a:buFont typeface="Wingdings" panose="05000000000000000000" pitchFamily="2" charset="2"/>
              <a:buChar char="q"/>
            </a:pPr>
            <a:r>
              <a:rPr lang="en-US" sz="2000" i="0" u="none" strike="noStrike" baseline="0" dirty="0">
                <a:solidFill>
                  <a:schemeClr val="tx1"/>
                </a:solidFill>
                <a:latin typeface="Times New Roman" panose="02020603050405020304" pitchFamily="18" charset="0"/>
              </a:rPr>
              <a:t>To test a hypothesis of a causal relationship between variables (</a:t>
            </a:r>
            <a:r>
              <a:rPr lang="en-IN" sz="2000" i="1" u="none" strike="noStrike" baseline="0" dirty="0">
                <a:solidFill>
                  <a:schemeClr val="tx1"/>
                </a:solidFill>
                <a:latin typeface="Times New Roman" panose="02020603050405020304" pitchFamily="18" charset="0"/>
              </a:rPr>
              <a:t>hypothesis-testing </a:t>
            </a:r>
            <a:r>
              <a:rPr lang="en-IN" sz="2000" i="0" u="none" strike="noStrike" baseline="0" dirty="0">
                <a:solidFill>
                  <a:schemeClr val="tx1"/>
                </a:solidFill>
                <a:latin typeface="Times New Roman" panose="02020603050405020304" pitchFamily="18" charset="0"/>
              </a:rPr>
              <a:t>research studies).</a:t>
            </a:r>
            <a:endParaRPr lang="en-IN" sz="2000" dirty="0">
              <a:solidFill>
                <a:schemeClr val="tx1"/>
              </a:solidFill>
            </a:endParaRPr>
          </a:p>
        </p:txBody>
      </p:sp>
      <p:sp>
        <p:nvSpPr>
          <p:cNvPr id="5" name="Slide Number Placeholder 4">
            <a:extLst>
              <a:ext uri="{FF2B5EF4-FFF2-40B4-BE49-F238E27FC236}">
                <a16:creationId xmlns:a16="http://schemas.microsoft.com/office/drawing/2014/main" id="{9598AB12-BF18-A2C1-D56A-9F13753609BD}"/>
              </a:ext>
            </a:extLst>
          </p:cNvPr>
          <p:cNvSpPr>
            <a:spLocks noGrp="1"/>
          </p:cNvSpPr>
          <p:nvPr>
            <p:ph type="sldNum" sz="quarter" idx="12"/>
          </p:nvPr>
        </p:nvSpPr>
        <p:spPr/>
        <p:txBody>
          <a:bodyPr/>
          <a:lstStyle/>
          <a:p>
            <a:fld id="{6D993E8C-417D-409F-980C-1BF59389D040}" type="slidenum">
              <a:rPr lang="en-IN" smtClean="0"/>
              <a:t>7</a:t>
            </a:fld>
            <a:endParaRPr lang="en-IN"/>
          </a:p>
        </p:txBody>
      </p:sp>
    </p:spTree>
    <p:extLst>
      <p:ext uri="{BB962C8B-B14F-4D97-AF65-F5344CB8AC3E}">
        <p14:creationId xmlns:p14="http://schemas.microsoft.com/office/powerpoint/2010/main" val="21771455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A8AF8-3D38-4234-8B80-8FBDC10F285F}"/>
              </a:ext>
            </a:extLst>
          </p:cNvPr>
          <p:cNvSpPr>
            <a:spLocks noGrp="1"/>
          </p:cNvSpPr>
          <p:nvPr>
            <p:ph type="title"/>
          </p:nvPr>
        </p:nvSpPr>
        <p:spPr/>
        <p:txBody>
          <a:bodyPr/>
          <a:lstStyle/>
          <a:p>
            <a:endParaRPr lang="en-IN"/>
          </a:p>
        </p:txBody>
      </p:sp>
      <p:pic>
        <p:nvPicPr>
          <p:cNvPr id="6" name="Online Media 5" title="1. Research Methodology - Introduction">
            <a:hlinkClick r:id="" action="ppaction://media"/>
            <a:extLst>
              <a:ext uri="{FF2B5EF4-FFF2-40B4-BE49-F238E27FC236}">
                <a16:creationId xmlns:a16="http://schemas.microsoft.com/office/drawing/2014/main" id="{1FBC1525-B148-46C3-BB86-D04AC693719E}"/>
              </a:ext>
            </a:extLst>
          </p:cNvPr>
          <p:cNvPicPr>
            <a:picLocks noGrp="1" noRot="1" noChangeAspect="1"/>
          </p:cNvPicPr>
          <p:nvPr>
            <p:ph idx="1"/>
            <a:videoFile r:link="rId1"/>
          </p:nvPr>
        </p:nvPicPr>
        <p:blipFill>
          <a:blip r:embed="rId3"/>
          <a:stretch>
            <a:fillRect/>
          </a:stretch>
        </p:blipFill>
        <p:spPr>
          <a:xfrm>
            <a:off x="774177" y="478302"/>
            <a:ext cx="10886011" cy="6022631"/>
          </a:xfrm>
          <a:prstGeom prst="rect">
            <a:avLst/>
          </a:prstGeom>
        </p:spPr>
      </p:pic>
      <p:sp>
        <p:nvSpPr>
          <p:cNvPr id="4" name="Footer Placeholder 3">
            <a:extLst>
              <a:ext uri="{FF2B5EF4-FFF2-40B4-BE49-F238E27FC236}">
                <a16:creationId xmlns:a16="http://schemas.microsoft.com/office/drawing/2014/main" id="{6B0D00A2-3133-40B5-B084-E7E2D7C9497F}"/>
              </a:ext>
            </a:extLst>
          </p:cNvPr>
          <p:cNvSpPr>
            <a:spLocks noGrp="1"/>
          </p:cNvSpPr>
          <p:nvPr>
            <p:ph type="ftr" sz="quarter" idx="11"/>
          </p:nvPr>
        </p:nvSpPr>
        <p:spPr/>
        <p:txBody>
          <a:bodyPr/>
          <a:lstStyle/>
          <a:p>
            <a:r>
              <a:rPr lang="en-US"/>
              <a:t>Jain (Deemed-to-be University), Department of BCA</a:t>
            </a:r>
            <a:endParaRPr lang="en-IN"/>
          </a:p>
        </p:txBody>
      </p:sp>
      <p:sp>
        <p:nvSpPr>
          <p:cNvPr id="5" name="Slide Number Placeholder 4">
            <a:extLst>
              <a:ext uri="{FF2B5EF4-FFF2-40B4-BE49-F238E27FC236}">
                <a16:creationId xmlns:a16="http://schemas.microsoft.com/office/drawing/2014/main" id="{BA9C8A3D-FD4B-46AE-89D7-D002402D8226}"/>
              </a:ext>
            </a:extLst>
          </p:cNvPr>
          <p:cNvSpPr>
            <a:spLocks noGrp="1"/>
          </p:cNvSpPr>
          <p:nvPr>
            <p:ph type="sldNum" sz="quarter" idx="12"/>
          </p:nvPr>
        </p:nvSpPr>
        <p:spPr/>
        <p:txBody>
          <a:bodyPr/>
          <a:lstStyle/>
          <a:p>
            <a:fld id="{6D993E8C-417D-409F-980C-1BF59389D040}" type="slidenum">
              <a:rPr lang="en-IN" smtClean="0"/>
              <a:t>8</a:t>
            </a:fld>
            <a:endParaRPr lang="en-IN"/>
          </a:p>
        </p:txBody>
      </p:sp>
    </p:spTree>
    <p:extLst>
      <p:ext uri="{BB962C8B-B14F-4D97-AF65-F5344CB8AC3E}">
        <p14:creationId xmlns:p14="http://schemas.microsoft.com/office/powerpoint/2010/main" val="1690117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theme/theme1.xml><?xml version="1.0" encoding="utf-8"?>
<a:theme xmlns:a="http://schemas.openxmlformats.org/drawingml/2006/main" name="Theme1">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3729</TotalTime>
  <Words>715</Words>
  <Application>Microsoft Office PowerPoint</Application>
  <PresentationFormat>Widescreen</PresentationFormat>
  <Paragraphs>55</Paragraphs>
  <Slides>8</Slides>
  <Notes>0</Notes>
  <HiddenSlides>0</HiddenSlides>
  <MMClips>1</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8</vt:i4>
      </vt:variant>
    </vt:vector>
  </HeadingPairs>
  <TitlesOfParts>
    <vt:vector size="17" baseType="lpstr">
      <vt:lpstr>Arial</vt:lpstr>
      <vt:lpstr>Arial Black</vt:lpstr>
      <vt:lpstr>Calibri</vt:lpstr>
      <vt:lpstr>Century Gothic</vt:lpstr>
      <vt:lpstr>Times New Roman</vt:lpstr>
      <vt:lpstr>Wingdings</vt:lpstr>
      <vt:lpstr>Wingdings 3</vt:lpstr>
      <vt:lpstr>Theme1</vt:lpstr>
      <vt:lpstr>Custom Design</vt:lpstr>
      <vt:lpstr>School of Computer Science &amp; IT  Programme: BCA</vt:lpstr>
      <vt:lpstr>Session -1</vt:lpstr>
      <vt:lpstr>PowerPoint Presentation</vt:lpstr>
      <vt:lpstr>A Motivating Example  …</vt:lpstr>
      <vt:lpstr>Meaning of Research</vt:lpstr>
      <vt:lpstr>PowerPoint Presentation</vt:lpstr>
      <vt:lpstr>Objective of Research</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NETWORKS</dc:title>
  <dc:creator>M Dutta</dc:creator>
  <cp:lastModifiedBy>Admin</cp:lastModifiedBy>
  <cp:revision>497</cp:revision>
  <dcterms:created xsi:type="dcterms:W3CDTF">2020-04-29T14:56:43Z</dcterms:created>
  <dcterms:modified xsi:type="dcterms:W3CDTF">2024-07-12T21:03:36Z</dcterms:modified>
</cp:coreProperties>
</file>